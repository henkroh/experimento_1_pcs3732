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0:10 (running 0:10).
Good morning. This is Group D's project: a door lock that opens from a phone over Bluetooth Low Energy. Three implementations, one protocol.
Keep this short — go straight to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0:55 (running 1:05).
Walk the three questions quickly — the audience already believes the first two.
SLOW DOWN on the amber line. This is the thesis of the project: trust has to enter through a channel the attacker is not on. That is why there is a physical button on the lock.
Read the five requirements fast — they come back on the next slide and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0:55 (running 2:00).
This slide is the whole design in one screen. Go row by row, but do not linger — each mechanism gets its own detail later.
The one to emphasise is R3 (highlighted): the physical button is what makes the rest of the scheme meaningful.
The bottom line matters for the testing slide later: 'identical' is verified, not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0:50 (running 2:50).
Read the diagram left to right: two centrals, one peripheral, four things the peripheral drives.
Worth saying out loud: the peripheral has no idea which phone platform it is talking to. Everything platform-specific lives in the two apps.
The three facts at the bottom are the wire-level contract. Do not read them verbatim — point at 'write with response' and explain why: the phone has to know the message landed before it starts waiting for a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1:05 (running 3:55).
LEFT — enrollment. Walk the sequence. The line that matters is the owner pressing ALLOW: that is the moment trust is created, and it cannot be reached over the radio.
Mention the queue: with a single slot, two simultaneous requests mean the owner does not know which phone they just approved.
RIGHT — unlock. Point at the formula. Two details to call out: the 'unlock' context string means a captured MAC cannot be reused for another operation, and the 0x00 separators stop two different field splits from producing the same message.
Last bullet is the practical defence: the lockout survives reconnection, so an attacker cannot reset the counter by dropping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2:30 (running 6:25). THIS IS THE SLIDE THAT ALWAYS OVERRUNS — watch the clock.
Leave this slide on screen and work the hardware. It doubles as the script.
Order: 1 advertising, 2 enroll + ALLOW, 3 unlock, 4 deny with the second phone, 5 revoke from the shell, 6 the access log.
Say the requirement tag out loud as you hit each one (R3, R1, R2, R4) — it ties the demo back to the motivation.
IF THE RADIO MISBEHAVES: skip to steps 5 and 6, which run entirely on the Pi over SSH and need no BLE at all. Do not debug live — say what should have happened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0:50 (running 7:15).
The three numbers are there so nobody has to guess the size of the thing. Do not read them — they are already on the screen.
Spend the time on the two claims that matter: the peripheral contains zero platform-specific code, and the lock cannot be left open by a crash or by a repeated unlock.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0:45 (running 8:00).
Do not read the table. Point at it and give the two takeaways:
1) The dark box: the Android crypto tests use vectors the Pi generated. Cross-implementation agreement is checked by a test, not by two people reading two files.
2) The italic line at the bottom: we can test the whole protocol on a laptop because the rule layer has no D-Bus and no GPIO dependency. That was a deliberate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0:50 (running 8:50).
This is the best debugging story in the project — tell it as a story, in three beats.
Beat 1: the service registers, the advertisement does not, and the symptom is that the iPhone simply shows an empty list.
Beat 2: btmon shows Add Ext Adv Data failing with Invalid Parameters for a payload of ANY size — including zero bytes. That is what rules out our own packet.
Beat 3: the controller advertises Bluetooth 5.0 but has the Extended Advertising feature bit set to zero. BlueZ was using a code path the hardware does not support.
Then the fix: fall back to the legacy path, which works on the same chip at the same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0:35 (running 9:25).
Do not read three rows out loud — pick the MTU one, which is the most concrete: the approved enrollment message is 140 bytes and the default MTU is 23, so it would arrive truncated. The rule we adopted is to refuse to send rather than shorten the secret.
Then land the amber line: none of these are cryptography problems. Making one protocol run on three stacks costs far more in transport than in crypto.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0:35 (running 10:00).
Be brisk and be honest. Naming your own weaknesses reads as competence, not as failure — and the next slide answers every one of them.
If time is short, cover 1 and 2 properly and say that 3 and 4 are on the slide.
Likely question: 'why not just hash the secret?' Answer: HMAC is symmetric, the lock needs the same bytes to recompute the proof. Asymmetric crypto is exactly the fix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0:35 (running 10:35).
Item 1 is the headline: moving to a keypair means the lock never transmits and never stores a secret, which closes the two most serious limitations at once. Say that clearly.
Items 2 to 5 are a list — point, do not read.
End on the closing line and stop talking. Do not add a summary after it.
Thank the audience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41C"/>
        </a:solidFill>
      </p:bgPr>
    </p:bg>
    <p:spTree>
      <p:nvGrpSpPr>
        <p:cNvPr id="1" name=""/>
        <p:cNvGrpSpPr/>
        <p:nvPr/>
      </p:nvGrpSpPr>
      <p:grpSpPr>
        <a:xfrm>
          <a:off x="0" y="0"/>
          <a:ext cx="0" cy="0"/>
          <a:chOff x="0" y="0"/>
          <a:chExt cx="0" cy="0"/>
        </a:xfrm>
      </p:grpSpPr>
      <p:sp>
        <p:nvSpPr>
          <p:cNvPr id="2" name="Text 0"/>
          <p:cNvSpPr/>
          <p:nvPr/>
        </p:nvSpPr>
        <p:spPr>
          <a:xfrm>
            <a:off x="640080" y="1051560"/>
            <a:ext cx="6949440" cy="237744"/>
          </a:xfrm>
          <a:prstGeom prst="rect">
            <a:avLst/>
          </a:prstGeom>
          <a:noFill/>
          <a:ln/>
        </p:spPr>
        <p:txBody>
          <a:bodyPr wrap="square" lIns="0" tIns="0" rIns="0" bIns="0" rtlCol="0" anchor="ctr"/>
          <a:lstStyle/>
          <a:p>
            <a:pPr indent="0" marL="0">
              <a:buNone/>
            </a:pPr>
            <a:r>
              <a:rPr lang="en-US" sz="1050" b="1" spc="180" kern="0" dirty="0">
                <a:solidFill>
                  <a:srgbClr val="E08A2E"/>
                </a:solidFill>
                <a:latin typeface="Calibri" pitchFamily="34" charset="0"/>
                <a:ea typeface="Calibri" pitchFamily="34" charset="-122"/>
                <a:cs typeface="Calibri" pitchFamily="34" charset="-120"/>
              </a:rPr>
              <a:t>PCS3732  ·  PROCESSOR LABORATORY  ·  GROUP D</a:t>
            </a:r>
            <a:endParaRPr lang="en-US" sz="1050" dirty="0"/>
          </a:p>
        </p:txBody>
      </p:sp>
      <p:sp>
        <p:nvSpPr>
          <p:cNvPr id="3" name="Text 1"/>
          <p:cNvSpPr/>
          <p:nvPr/>
        </p:nvSpPr>
        <p:spPr>
          <a:xfrm>
            <a:off x="640080" y="1481328"/>
            <a:ext cx="6949440" cy="169164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Smart Lock over</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Bluetooth Low Energy</a:t>
            </a:r>
            <a:endParaRPr lang="en-US" sz="4600" dirty="0"/>
          </a:p>
        </p:txBody>
      </p:sp>
      <p:sp>
        <p:nvSpPr>
          <p:cNvPr id="4" name="Text 2"/>
          <p:cNvSpPr/>
          <p:nvPr/>
        </p:nvSpPr>
        <p:spPr>
          <a:xfrm>
            <a:off x="640080" y="3310128"/>
            <a:ext cx="6949440" cy="365760"/>
          </a:xfrm>
          <a:prstGeom prst="rect">
            <a:avLst/>
          </a:prstGeom>
          <a:noFill/>
          <a:ln/>
        </p:spPr>
        <p:txBody>
          <a:bodyPr wrap="square" lIns="0" tIns="0" rIns="0" bIns="0" rtlCol="0" anchor="ctr"/>
          <a:lstStyle/>
          <a:p>
            <a:pPr indent="0" marL="0">
              <a:buNone/>
            </a:pPr>
            <a:r>
              <a:rPr lang="en-US" sz="1600" dirty="0">
                <a:solidFill>
                  <a:srgbClr val="97A4B3"/>
                </a:solidFill>
                <a:latin typeface="Calibri" pitchFamily="34" charset="0"/>
                <a:ea typeface="Calibri" pitchFamily="34" charset="-122"/>
                <a:cs typeface="Calibri" pitchFamily="34" charset="-120"/>
              </a:rPr>
              <a:t>Physical-button enrollment  ·  HMAC-SHA256 challenge–response</a:t>
            </a:r>
            <a:endParaRPr lang="en-US" sz="1600" dirty="0"/>
          </a:p>
        </p:txBody>
      </p:sp>
      <p:sp>
        <p:nvSpPr>
          <p:cNvPr id="5" name="Text 3"/>
          <p:cNvSpPr/>
          <p:nvPr/>
        </p:nvSpPr>
        <p:spPr>
          <a:xfrm>
            <a:off x="640080" y="3886200"/>
            <a:ext cx="6583680" cy="685800"/>
          </a:xfrm>
          <a:prstGeom prst="rect">
            <a:avLst/>
          </a:prstGeom>
          <a:noFill/>
          <a:ln/>
        </p:spPr>
        <p:txBody>
          <a:bodyPr wrap="square" lIns="0" tIns="0" rIns="0" bIns="0" rtlCol="0" anchor="t"/>
          <a:lstStyle/>
          <a:p>
            <a:pPr indent="0" marL="0">
              <a:buNone/>
            </a:pPr>
            <a:r>
              <a:rPr lang="en-US" sz="1350" i="1" dirty="0">
                <a:solidFill>
                  <a:srgbClr val="2E9E8F"/>
                </a:solidFill>
                <a:latin typeface="Calibri" pitchFamily="34" charset="0"/>
                <a:ea typeface="Calibri" pitchFamily="34" charset="-122"/>
                <a:cs typeface="Calibri" pitchFamily="34" charset="-120"/>
              </a:rPr>
              <a:t>One wire protocol. Three implementations. No shared key ever crosses the air twice.</a:t>
            </a:r>
            <a:endParaRPr lang="en-US" sz="1350" dirty="0"/>
          </a:p>
        </p:txBody>
      </p:sp>
      <p:sp>
        <p:nvSpPr>
          <p:cNvPr id="6" name="Text 4"/>
          <p:cNvSpPr/>
          <p:nvPr/>
        </p:nvSpPr>
        <p:spPr>
          <a:xfrm>
            <a:off x="640080" y="5760720"/>
            <a:ext cx="6949440" cy="274320"/>
          </a:xfrm>
          <a:prstGeom prst="rect">
            <a:avLst/>
          </a:prstGeom>
          <a:noFill/>
          <a:ln/>
        </p:spPr>
        <p:txBody>
          <a:bodyPr wrap="square" lIns="0" tIns="0" rIns="0" bIns="0" rtlCol="0" anchor="ctr"/>
          <a:lstStyle/>
          <a:p>
            <a:pPr indent="0" marL="0">
              <a:buNone/>
            </a:pPr>
            <a:r>
              <a:rPr lang="en-US" sz="1100" dirty="0">
                <a:solidFill>
                  <a:srgbClr val="6B7683"/>
                </a:solidFill>
                <a:latin typeface="Calibri" pitchFamily="34" charset="0"/>
                <a:ea typeface="Calibri" pitchFamily="34" charset="-122"/>
                <a:cs typeface="Calibri" pitchFamily="34" charset="-120"/>
              </a:rPr>
              <a:t>Group D  ·  Escola Politécnica, University of São Paulo  ·  2026</a:t>
            </a:r>
            <a:endParaRPr lang="en-US" sz="1100" dirty="0"/>
          </a:p>
        </p:txBody>
      </p:sp>
      <p:sp>
        <p:nvSpPr>
          <p:cNvPr id="7" name="Shape 5"/>
          <p:cNvSpPr/>
          <p:nvPr/>
        </p:nvSpPr>
        <p:spPr>
          <a:xfrm>
            <a:off x="7955280" y="1481328"/>
            <a:ext cx="3593592" cy="1097280"/>
          </a:xfrm>
          <a:prstGeom prst="roundRect">
            <a:avLst>
              <a:gd name="adj" fmla="val 5833"/>
            </a:avLst>
          </a:prstGeom>
          <a:solidFill>
            <a:srgbClr val="1B2430"/>
          </a:solidFill>
          <a:ln/>
        </p:spPr>
      </p:sp>
      <p:sp>
        <p:nvSpPr>
          <p:cNvPr id="8" name="Shape 6"/>
          <p:cNvSpPr/>
          <p:nvPr/>
        </p:nvSpPr>
        <p:spPr>
          <a:xfrm>
            <a:off x="8247888" y="1792224"/>
            <a:ext cx="155448" cy="155448"/>
          </a:xfrm>
          <a:prstGeom prst="ellipse">
            <a:avLst/>
          </a:prstGeom>
          <a:solidFill>
            <a:srgbClr val="E08A2E"/>
          </a:solidFill>
          <a:ln/>
        </p:spPr>
      </p:sp>
      <p:sp>
        <p:nvSpPr>
          <p:cNvPr id="9" name="Text 7"/>
          <p:cNvSpPr/>
          <p:nvPr/>
        </p:nvSpPr>
        <p:spPr>
          <a:xfrm>
            <a:off x="8522208" y="1664208"/>
            <a:ext cx="2770632" cy="3017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Raspberry Pi 3B+</a:t>
            </a:r>
            <a:endParaRPr lang="en-US" sz="1450" dirty="0"/>
          </a:p>
        </p:txBody>
      </p:sp>
      <p:sp>
        <p:nvSpPr>
          <p:cNvPr id="10" name="Text 8"/>
          <p:cNvSpPr/>
          <p:nvPr/>
        </p:nvSpPr>
        <p:spPr>
          <a:xfrm>
            <a:off x="8522208" y="1956816"/>
            <a:ext cx="2770632" cy="237744"/>
          </a:xfrm>
          <a:prstGeom prst="rect">
            <a:avLst/>
          </a:prstGeom>
          <a:noFill/>
          <a:ln/>
        </p:spPr>
        <p:txBody>
          <a:bodyPr wrap="square" lIns="0" tIns="0" rIns="0" bIns="0" rtlCol="0" anchor="ctr"/>
          <a:lstStyle/>
          <a:p>
            <a:pPr indent="0" marL="0">
              <a:buNone/>
            </a:pPr>
            <a:r>
              <a:rPr lang="en-US" sz="1050" dirty="0">
                <a:solidFill>
                  <a:srgbClr val="97A4B3"/>
                </a:solidFill>
                <a:latin typeface="Calibri" pitchFamily="34" charset="0"/>
                <a:ea typeface="Calibri" pitchFamily="34" charset="-122"/>
                <a:cs typeface="Calibri" pitchFamily="34" charset="-120"/>
              </a:rPr>
              <a:t>Python · BlueZ · D-Bus</a:t>
            </a:r>
            <a:endParaRPr lang="en-US" sz="1050" dirty="0"/>
          </a:p>
        </p:txBody>
      </p:sp>
      <p:sp>
        <p:nvSpPr>
          <p:cNvPr id="11" name="Text 9"/>
          <p:cNvSpPr/>
          <p:nvPr/>
        </p:nvSpPr>
        <p:spPr>
          <a:xfrm>
            <a:off x="8522208" y="2194560"/>
            <a:ext cx="2770632" cy="237744"/>
          </a:xfrm>
          <a:prstGeom prst="rect">
            <a:avLst/>
          </a:prstGeom>
          <a:noFill/>
          <a:ln/>
        </p:spPr>
        <p:txBody>
          <a:bodyPr wrap="square" lIns="0" tIns="0" rIns="0" bIns="0" rtlCol="0" anchor="ctr"/>
          <a:lstStyle/>
          <a:p>
            <a:pPr indent="0" marL="0">
              <a:buNone/>
            </a:pPr>
            <a:r>
              <a:rPr lang="en-US" sz="1050" i="1" dirty="0">
                <a:solidFill>
                  <a:srgbClr val="E08A2E"/>
                </a:solidFill>
                <a:latin typeface="Calibri" pitchFamily="34" charset="0"/>
                <a:ea typeface="Calibri" pitchFamily="34" charset="-122"/>
                <a:cs typeface="Calibri" pitchFamily="34" charset="-120"/>
              </a:rPr>
              <a:t>BLE peripheral — the lock</a:t>
            </a:r>
            <a:endParaRPr lang="en-US" sz="1050" dirty="0"/>
          </a:p>
        </p:txBody>
      </p:sp>
      <p:sp>
        <p:nvSpPr>
          <p:cNvPr id="12" name="Shape 10"/>
          <p:cNvSpPr/>
          <p:nvPr/>
        </p:nvSpPr>
        <p:spPr>
          <a:xfrm>
            <a:off x="7955280" y="2779776"/>
            <a:ext cx="3593592" cy="1097280"/>
          </a:xfrm>
          <a:prstGeom prst="roundRect">
            <a:avLst>
              <a:gd name="adj" fmla="val 5833"/>
            </a:avLst>
          </a:prstGeom>
          <a:solidFill>
            <a:srgbClr val="1B2430"/>
          </a:solidFill>
          <a:ln/>
        </p:spPr>
      </p:sp>
      <p:sp>
        <p:nvSpPr>
          <p:cNvPr id="13" name="Shape 11"/>
          <p:cNvSpPr/>
          <p:nvPr/>
        </p:nvSpPr>
        <p:spPr>
          <a:xfrm>
            <a:off x="8247888" y="3090672"/>
            <a:ext cx="155448" cy="155448"/>
          </a:xfrm>
          <a:prstGeom prst="ellipse">
            <a:avLst/>
          </a:prstGeom>
          <a:solidFill>
            <a:srgbClr val="2E9E8F"/>
          </a:solidFill>
          <a:ln/>
        </p:spPr>
      </p:sp>
      <p:sp>
        <p:nvSpPr>
          <p:cNvPr id="14" name="Text 12"/>
          <p:cNvSpPr/>
          <p:nvPr/>
        </p:nvSpPr>
        <p:spPr>
          <a:xfrm>
            <a:off x="8522208" y="2962656"/>
            <a:ext cx="2770632" cy="3017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iOS 17</a:t>
            </a:r>
            <a:endParaRPr lang="en-US" sz="1450" dirty="0"/>
          </a:p>
        </p:txBody>
      </p:sp>
      <p:sp>
        <p:nvSpPr>
          <p:cNvPr id="15" name="Text 13"/>
          <p:cNvSpPr/>
          <p:nvPr/>
        </p:nvSpPr>
        <p:spPr>
          <a:xfrm>
            <a:off x="8522208" y="3255264"/>
            <a:ext cx="2770632" cy="237744"/>
          </a:xfrm>
          <a:prstGeom prst="rect">
            <a:avLst/>
          </a:prstGeom>
          <a:noFill/>
          <a:ln/>
        </p:spPr>
        <p:txBody>
          <a:bodyPr wrap="square" lIns="0" tIns="0" rIns="0" bIns="0" rtlCol="0" anchor="ctr"/>
          <a:lstStyle/>
          <a:p>
            <a:pPr indent="0" marL="0">
              <a:buNone/>
            </a:pPr>
            <a:r>
              <a:rPr lang="en-US" sz="1050" dirty="0">
                <a:solidFill>
                  <a:srgbClr val="97A4B3"/>
                </a:solidFill>
                <a:latin typeface="Calibri" pitchFamily="34" charset="0"/>
                <a:ea typeface="Calibri" pitchFamily="34" charset="-122"/>
                <a:cs typeface="Calibri" pitchFamily="34" charset="-120"/>
              </a:rPr>
              <a:t>Swift · SwiftUI · CoreBluetooth</a:t>
            </a:r>
            <a:endParaRPr lang="en-US" sz="1050" dirty="0"/>
          </a:p>
        </p:txBody>
      </p:sp>
      <p:sp>
        <p:nvSpPr>
          <p:cNvPr id="16" name="Text 14"/>
          <p:cNvSpPr/>
          <p:nvPr/>
        </p:nvSpPr>
        <p:spPr>
          <a:xfrm>
            <a:off x="8522208" y="3493008"/>
            <a:ext cx="2770632" cy="237744"/>
          </a:xfrm>
          <a:prstGeom prst="rect">
            <a:avLst/>
          </a:prstGeom>
          <a:noFill/>
          <a:ln/>
        </p:spPr>
        <p:txBody>
          <a:bodyPr wrap="square" lIns="0" tIns="0" rIns="0" bIns="0" rtlCol="0" anchor="ctr"/>
          <a:lstStyle/>
          <a:p>
            <a:pPr indent="0" marL="0">
              <a:buNone/>
            </a:pPr>
            <a:r>
              <a:rPr lang="en-US" sz="1050" i="1" dirty="0">
                <a:solidFill>
                  <a:srgbClr val="2E9E8F"/>
                </a:solidFill>
                <a:latin typeface="Calibri" pitchFamily="34" charset="0"/>
                <a:ea typeface="Calibri" pitchFamily="34" charset="-122"/>
                <a:cs typeface="Calibri" pitchFamily="34" charset="-120"/>
              </a:rPr>
              <a:t>BLE central</a:t>
            </a:r>
            <a:endParaRPr lang="en-US" sz="1050" dirty="0"/>
          </a:p>
        </p:txBody>
      </p:sp>
      <p:sp>
        <p:nvSpPr>
          <p:cNvPr id="17" name="Shape 15"/>
          <p:cNvSpPr/>
          <p:nvPr/>
        </p:nvSpPr>
        <p:spPr>
          <a:xfrm>
            <a:off x="7955280" y="4078224"/>
            <a:ext cx="3593592" cy="1097280"/>
          </a:xfrm>
          <a:prstGeom prst="roundRect">
            <a:avLst>
              <a:gd name="adj" fmla="val 5833"/>
            </a:avLst>
          </a:prstGeom>
          <a:solidFill>
            <a:srgbClr val="1B2430"/>
          </a:solidFill>
          <a:ln/>
        </p:spPr>
      </p:sp>
      <p:sp>
        <p:nvSpPr>
          <p:cNvPr id="18" name="Shape 16"/>
          <p:cNvSpPr/>
          <p:nvPr/>
        </p:nvSpPr>
        <p:spPr>
          <a:xfrm>
            <a:off x="8247888" y="4389120"/>
            <a:ext cx="155448" cy="155448"/>
          </a:xfrm>
          <a:prstGeom prst="ellipse">
            <a:avLst/>
          </a:prstGeom>
          <a:solidFill>
            <a:srgbClr val="2E9E8F"/>
          </a:solidFill>
          <a:ln/>
        </p:spPr>
      </p:sp>
      <p:sp>
        <p:nvSpPr>
          <p:cNvPr id="19" name="Text 17"/>
          <p:cNvSpPr/>
          <p:nvPr/>
        </p:nvSpPr>
        <p:spPr>
          <a:xfrm>
            <a:off x="8522208" y="4261104"/>
            <a:ext cx="2770632" cy="3017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Android 26+</a:t>
            </a:r>
            <a:endParaRPr lang="en-US" sz="1450" dirty="0"/>
          </a:p>
        </p:txBody>
      </p:sp>
      <p:sp>
        <p:nvSpPr>
          <p:cNvPr id="20" name="Text 18"/>
          <p:cNvSpPr/>
          <p:nvPr/>
        </p:nvSpPr>
        <p:spPr>
          <a:xfrm>
            <a:off x="8522208" y="4553712"/>
            <a:ext cx="2770632" cy="237744"/>
          </a:xfrm>
          <a:prstGeom prst="rect">
            <a:avLst/>
          </a:prstGeom>
          <a:noFill/>
          <a:ln/>
        </p:spPr>
        <p:txBody>
          <a:bodyPr wrap="square" lIns="0" tIns="0" rIns="0" bIns="0" rtlCol="0" anchor="ctr"/>
          <a:lstStyle/>
          <a:p>
            <a:pPr indent="0" marL="0">
              <a:buNone/>
            </a:pPr>
            <a:r>
              <a:rPr lang="en-US" sz="1050" dirty="0">
                <a:solidFill>
                  <a:srgbClr val="97A4B3"/>
                </a:solidFill>
                <a:latin typeface="Calibri" pitchFamily="34" charset="0"/>
                <a:ea typeface="Calibri" pitchFamily="34" charset="-122"/>
                <a:cs typeface="Calibri" pitchFamily="34" charset="-120"/>
              </a:rPr>
              <a:t>Kotlin · Compose · BluetoothGatt</a:t>
            </a:r>
            <a:endParaRPr lang="en-US" sz="1050" dirty="0"/>
          </a:p>
        </p:txBody>
      </p:sp>
      <p:sp>
        <p:nvSpPr>
          <p:cNvPr id="21" name="Text 19"/>
          <p:cNvSpPr/>
          <p:nvPr/>
        </p:nvSpPr>
        <p:spPr>
          <a:xfrm>
            <a:off x="8522208" y="4791456"/>
            <a:ext cx="2770632" cy="237744"/>
          </a:xfrm>
          <a:prstGeom prst="rect">
            <a:avLst/>
          </a:prstGeom>
          <a:noFill/>
          <a:ln/>
        </p:spPr>
        <p:txBody>
          <a:bodyPr wrap="square" lIns="0" tIns="0" rIns="0" bIns="0" rtlCol="0" anchor="ctr"/>
          <a:lstStyle/>
          <a:p>
            <a:pPr indent="0" marL="0">
              <a:buNone/>
            </a:pPr>
            <a:r>
              <a:rPr lang="en-US" sz="1050" i="1" dirty="0">
                <a:solidFill>
                  <a:srgbClr val="2E9E8F"/>
                </a:solidFill>
                <a:latin typeface="Calibri" pitchFamily="34" charset="0"/>
                <a:ea typeface="Calibri" pitchFamily="34" charset="-122"/>
                <a:cs typeface="Calibri" pitchFamily="34" charset="-120"/>
              </a:rPr>
              <a:t>BLE central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MOTIVATION</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Three questions a phone-opened lock must answer</a:t>
            </a:r>
            <a:endParaRPr lang="en-US" sz="3100" dirty="0"/>
          </a:p>
        </p:txBody>
      </p:sp>
      <p:sp>
        <p:nvSpPr>
          <p:cNvPr id="4" name="Shape 2"/>
          <p:cNvSpPr/>
          <p:nvPr/>
        </p:nvSpPr>
        <p:spPr>
          <a:xfrm>
            <a:off x="640080" y="1389888"/>
            <a:ext cx="3483864" cy="2029968"/>
          </a:xfrm>
          <a:prstGeom prst="roundRect">
            <a:avLst>
              <a:gd name="adj" fmla="val 3153"/>
            </a:avLst>
          </a:prstGeom>
          <a:solidFill>
            <a:srgbClr val="F1F4F7"/>
          </a:solidFill>
          <a:ln/>
        </p:spPr>
      </p:sp>
      <p:sp>
        <p:nvSpPr>
          <p:cNvPr id="5" name="Shape 3"/>
          <p:cNvSpPr/>
          <p:nvPr/>
        </p:nvSpPr>
        <p:spPr>
          <a:xfrm>
            <a:off x="896112" y="1627632"/>
            <a:ext cx="310896" cy="310896"/>
          </a:xfrm>
          <a:prstGeom prst="ellipse">
            <a:avLst/>
          </a:prstGeom>
          <a:solidFill>
            <a:srgbClr val="1B2430"/>
          </a:solidFill>
          <a:ln/>
        </p:spPr>
      </p:sp>
      <p:sp>
        <p:nvSpPr>
          <p:cNvPr id="6" name="Text 4"/>
          <p:cNvSpPr/>
          <p:nvPr/>
        </p:nvSpPr>
        <p:spPr>
          <a:xfrm>
            <a:off x="896112" y="1627632"/>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896112" y="2084832"/>
            <a:ext cx="2971800" cy="566928"/>
          </a:xfrm>
          <a:prstGeom prst="rect">
            <a:avLst/>
          </a:prstGeom>
          <a:noFill/>
          <a:ln/>
        </p:spPr>
        <p:txBody>
          <a:bodyPr wrap="square" lIns="0" tIns="0" rIns="0" bIns="0" rtlCol="0" anchor="t"/>
          <a:lstStyle/>
          <a:p>
            <a:pPr indent="0" marL="0">
              <a:buNone/>
            </a:pPr>
            <a:r>
              <a:rPr lang="en-US" sz="1500" b="1" dirty="0">
                <a:solidFill>
                  <a:srgbClr val="1B2430"/>
                </a:solidFill>
                <a:latin typeface="Calibri" pitchFamily="34" charset="0"/>
                <a:ea typeface="Calibri" pitchFamily="34" charset="-122"/>
                <a:cs typeface="Calibri" pitchFamily="34" charset="-120"/>
              </a:rPr>
              <a:t>Who is asking?</a:t>
            </a:r>
            <a:endParaRPr lang="en-US" sz="1500" dirty="0"/>
          </a:p>
        </p:txBody>
      </p:sp>
      <p:sp>
        <p:nvSpPr>
          <p:cNvPr id="8" name="Text 6"/>
          <p:cNvSpPr/>
          <p:nvPr/>
        </p:nvSpPr>
        <p:spPr>
          <a:xfrm>
            <a:off x="896112" y="2651760"/>
            <a:ext cx="2971800" cy="676656"/>
          </a:xfrm>
          <a:prstGeom prst="rect">
            <a:avLst/>
          </a:prstGeom>
          <a:noFill/>
          <a:ln/>
        </p:spPr>
        <p:txBody>
          <a:bodyPr wrap="square" lIns="0" tIns="0" rIns="0" bIns="0" rtlCol="0" anchor="t"/>
          <a:lstStyle/>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The lock needs a per-device identity, not one key shared by everybody who ever had access.</a:t>
            </a:r>
            <a:endParaRPr lang="en-US" sz="1150" dirty="0"/>
          </a:p>
        </p:txBody>
      </p:sp>
      <p:sp>
        <p:nvSpPr>
          <p:cNvPr id="9" name="Shape 7"/>
          <p:cNvSpPr/>
          <p:nvPr/>
        </p:nvSpPr>
        <p:spPr>
          <a:xfrm>
            <a:off x="4352544" y="1389888"/>
            <a:ext cx="3483864" cy="2029968"/>
          </a:xfrm>
          <a:prstGeom prst="roundRect">
            <a:avLst>
              <a:gd name="adj" fmla="val 3153"/>
            </a:avLst>
          </a:prstGeom>
          <a:solidFill>
            <a:srgbClr val="F1F4F7"/>
          </a:solidFill>
          <a:ln/>
        </p:spPr>
      </p:sp>
      <p:sp>
        <p:nvSpPr>
          <p:cNvPr id="10" name="Shape 8"/>
          <p:cNvSpPr/>
          <p:nvPr/>
        </p:nvSpPr>
        <p:spPr>
          <a:xfrm>
            <a:off x="4608576" y="1627632"/>
            <a:ext cx="310896" cy="310896"/>
          </a:xfrm>
          <a:prstGeom prst="ellipse">
            <a:avLst/>
          </a:prstGeom>
          <a:solidFill>
            <a:srgbClr val="1B2430"/>
          </a:solidFill>
          <a:ln/>
        </p:spPr>
      </p:sp>
      <p:sp>
        <p:nvSpPr>
          <p:cNvPr id="11" name="Text 9"/>
          <p:cNvSpPr/>
          <p:nvPr/>
        </p:nvSpPr>
        <p:spPr>
          <a:xfrm>
            <a:off x="4608576" y="1627632"/>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p:nvPr/>
        </p:nvSpPr>
        <p:spPr>
          <a:xfrm>
            <a:off x="4608576" y="2084832"/>
            <a:ext cx="2971800" cy="566928"/>
          </a:xfrm>
          <a:prstGeom prst="rect">
            <a:avLst/>
          </a:prstGeom>
          <a:noFill/>
          <a:ln/>
        </p:spPr>
        <p:txBody>
          <a:bodyPr wrap="square" lIns="0" tIns="0" rIns="0" bIns="0" rtlCol="0" anchor="t"/>
          <a:lstStyle/>
          <a:p>
            <a:pPr indent="0" marL="0">
              <a:buNone/>
            </a:pPr>
            <a:r>
              <a:rPr lang="en-US" sz="1500" b="1" dirty="0">
                <a:solidFill>
                  <a:srgbClr val="1B2430"/>
                </a:solidFill>
                <a:latin typeface="Calibri" pitchFamily="34" charset="0"/>
                <a:ea typeface="Calibri" pitchFamily="34" charset="-122"/>
                <a:cs typeface="Calibri" pitchFamily="34" charset="-120"/>
              </a:rPr>
              <a:t>Can they prove it?</a:t>
            </a:r>
            <a:endParaRPr lang="en-US" sz="1500" dirty="0"/>
          </a:p>
        </p:txBody>
      </p:sp>
      <p:sp>
        <p:nvSpPr>
          <p:cNvPr id="13" name="Text 11"/>
          <p:cNvSpPr/>
          <p:nvPr/>
        </p:nvSpPr>
        <p:spPr>
          <a:xfrm>
            <a:off x="4608576" y="2651760"/>
            <a:ext cx="2971800" cy="676656"/>
          </a:xfrm>
          <a:prstGeom prst="rect">
            <a:avLst/>
          </a:prstGeom>
          <a:noFill/>
          <a:ln/>
        </p:spPr>
        <p:txBody>
          <a:bodyPr wrap="square" lIns="0" tIns="0" rIns="0" bIns="0" rtlCol="0" anchor="t"/>
          <a:lstStyle/>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Proof must be unforgeable and unrepeatable. Anything static that crosses the air can be captured and replayed.</a:t>
            </a:r>
            <a:endParaRPr lang="en-US" sz="1150" dirty="0"/>
          </a:p>
        </p:txBody>
      </p:sp>
      <p:sp>
        <p:nvSpPr>
          <p:cNvPr id="14" name="Shape 12"/>
          <p:cNvSpPr/>
          <p:nvPr/>
        </p:nvSpPr>
        <p:spPr>
          <a:xfrm>
            <a:off x="8065008" y="1389888"/>
            <a:ext cx="3483864" cy="2029968"/>
          </a:xfrm>
          <a:prstGeom prst="roundRect">
            <a:avLst>
              <a:gd name="adj" fmla="val 3153"/>
            </a:avLst>
          </a:prstGeom>
          <a:solidFill>
            <a:srgbClr val="E4EAF0"/>
          </a:solidFill>
          <a:ln/>
        </p:spPr>
      </p:sp>
      <p:sp>
        <p:nvSpPr>
          <p:cNvPr id="15" name="Shape 13"/>
          <p:cNvSpPr/>
          <p:nvPr/>
        </p:nvSpPr>
        <p:spPr>
          <a:xfrm>
            <a:off x="8321040" y="1627632"/>
            <a:ext cx="310896" cy="310896"/>
          </a:xfrm>
          <a:prstGeom prst="ellipse">
            <a:avLst/>
          </a:prstGeom>
          <a:solidFill>
            <a:srgbClr val="E08A2E"/>
          </a:solidFill>
          <a:ln/>
        </p:spPr>
      </p:sp>
      <p:sp>
        <p:nvSpPr>
          <p:cNvPr id="16" name="Text 14"/>
          <p:cNvSpPr/>
          <p:nvPr/>
        </p:nvSpPr>
        <p:spPr>
          <a:xfrm>
            <a:off x="8321040" y="1627632"/>
            <a:ext cx="310896" cy="310896"/>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8321040" y="2084832"/>
            <a:ext cx="2971800" cy="566928"/>
          </a:xfrm>
          <a:prstGeom prst="rect">
            <a:avLst/>
          </a:prstGeom>
          <a:noFill/>
          <a:ln/>
        </p:spPr>
        <p:txBody>
          <a:bodyPr wrap="square" lIns="0" tIns="0" rIns="0" bIns="0" rtlCol="0" anchor="t"/>
          <a:lstStyle/>
          <a:p>
            <a:pPr indent="0" marL="0">
              <a:buNone/>
            </a:pPr>
            <a:r>
              <a:rPr lang="en-US" sz="1500" b="1" dirty="0">
                <a:solidFill>
                  <a:srgbClr val="1B2430"/>
                </a:solidFill>
                <a:latin typeface="Calibri" pitchFamily="34" charset="0"/>
                <a:ea typeface="Calibri" pitchFamily="34" charset="-122"/>
                <a:cs typeface="Calibri" pitchFamily="34" charset="-120"/>
              </a:rPr>
              <a:t>How did they get access</a:t>
            </a:r>
            <a:endParaRPr lang="en-US" sz="1500" dirty="0"/>
          </a:p>
          <a:p>
            <a:pPr indent="0" marL="0">
              <a:buNone/>
            </a:pPr>
            <a:r>
              <a:rPr lang="en-US" sz="1500" b="1" dirty="0">
                <a:solidFill>
                  <a:srgbClr val="1B2430"/>
                </a:solidFill>
                <a:latin typeface="Calibri" pitchFamily="34" charset="0"/>
                <a:ea typeface="Calibri" pitchFamily="34" charset="-122"/>
                <a:cs typeface="Calibri" pitchFamily="34" charset="-120"/>
              </a:rPr>
              <a:t>in the first place?</a:t>
            </a:r>
            <a:endParaRPr lang="en-US" sz="1500" dirty="0"/>
          </a:p>
        </p:txBody>
      </p:sp>
      <p:sp>
        <p:nvSpPr>
          <p:cNvPr id="18" name="Text 16"/>
          <p:cNvSpPr/>
          <p:nvPr/>
        </p:nvSpPr>
        <p:spPr>
          <a:xfrm>
            <a:off x="8321040" y="2651760"/>
            <a:ext cx="2971800" cy="676656"/>
          </a:xfrm>
          <a:prstGeom prst="rect">
            <a:avLst/>
          </a:prstGeom>
          <a:noFill/>
          <a:ln/>
        </p:spPr>
        <p:txBody>
          <a:bodyPr wrap="square" lIns="0" tIns="0" rIns="0" bIns="0" rtlCol="0" anchor="t"/>
          <a:lstStyle/>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If enrollment happens purely over the radio, anyone within range can attempt it.</a:t>
            </a:r>
            <a:endParaRPr lang="en-US" sz="1150" dirty="0"/>
          </a:p>
        </p:txBody>
      </p:sp>
      <p:sp>
        <p:nvSpPr>
          <p:cNvPr id="19" name="Text 17"/>
          <p:cNvSpPr/>
          <p:nvPr/>
        </p:nvSpPr>
        <p:spPr>
          <a:xfrm>
            <a:off x="640080" y="3639312"/>
            <a:ext cx="10908792" cy="384048"/>
          </a:xfrm>
          <a:prstGeom prst="rect">
            <a:avLst/>
          </a:prstGeom>
          <a:noFill/>
          <a:ln/>
        </p:spPr>
        <p:txBody>
          <a:bodyPr wrap="square" lIns="0" tIns="0" rIns="0" bIns="0" rtlCol="0" anchor="ctr"/>
          <a:lstStyle/>
          <a:p>
            <a:pPr indent="0" marL="0">
              <a:buNone/>
            </a:pPr>
            <a:r>
              <a:rPr lang="en-US" sz="1500" b="1" i="1" dirty="0">
                <a:solidFill>
                  <a:srgbClr val="E08A2E"/>
                </a:solidFill>
                <a:latin typeface="Calibri" pitchFamily="34" charset="0"/>
                <a:ea typeface="Calibri" pitchFamily="34" charset="-122"/>
                <a:cs typeface="Calibri" pitchFamily="34" charset="-120"/>
              </a:rPr>
              <a:t>The third question has no cryptographic answer. Trust has to enter the system through a channel the attacker is not on.</a:t>
            </a:r>
            <a:endParaRPr lang="en-US" sz="1500" dirty="0"/>
          </a:p>
        </p:txBody>
      </p:sp>
      <p:sp>
        <p:nvSpPr>
          <p:cNvPr id="20" name="Text 18"/>
          <p:cNvSpPr/>
          <p:nvPr/>
        </p:nvSpPr>
        <p:spPr>
          <a:xfrm>
            <a:off x="640080" y="4224528"/>
            <a:ext cx="10908792" cy="237744"/>
          </a:xfrm>
          <a:prstGeom prst="rect">
            <a:avLst/>
          </a:prstGeom>
          <a:noFill/>
          <a:ln/>
        </p:spPr>
        <p:txBody>
          <a:bodyPr wrap="square" lIns="0" tIns="0" rIns="0" bIns="0" rtlCol="0" anchor="ctr"/>
          <a:lstStyle/>
          <a:p>
            <a:pPr indent="0" marL="0">
              <a:buNone/>
            </a:pPr>
            <a:r>
              <a:rPr lang="en-US" sz="1050" b="1" spc="160" kern="0" dirty="0">
                <a:solidFill>
                  <a:srgbClr val="6B7683"/>
                </a:solidFill>
                <a:latin typeface="Calibri" pitchFamily="34" charset="0"/>
                <a:ea typeface="Calibri" pitchFamily="34" charset="-122"/>
                <a:cs typeface="Calibri" pitchFamily="34" charset="-120"/>
              </a:rPr>
              <a:t>REQUIREMENTS WE SET</a:t>
            </a:r>
            <a:endParaRPr lang="en-US" sz="1050" dirty="0"/>
          </a:p>
        </p:txBody>
      </p:sp>
      <p:sp>
        <p:nvSpPr>
          <p:cNvPr id="21" name="Shape 19"/>
          <p:cNvSpPr/>
          <p:nvPr/>
        </p:nvSpPr>
        <p:spPr>
          <a:xfrm>
            <a:off x="640080" y="4535424"/>
            <a:ext cx="2075688" cy="1517904"/>
          </a:xfrm>
          <a:prstGeom prst="roundRect">
            <a:avLst>
              <a:gd name="adj" fmla="val 4217"/>
            </a:avLst>
          </a:prstGeom>
          <a:solidFill>
            <a:srgbClr val="F1F4F7"/>
          </a:solidFill>
          <a:ln w="12700">
            <a:solidFill>
              <a:srgbClr val="E4EAF0"/>
            </a:solidFill>
            <a:prstDash val="solid"/>
          </a:ln>
        </p:spPr>
      </p:sp>
      <p:sp>
        <p:nvSpPr>
          <p:cNvPr id="22" name="Shape 20"/>
          <p:cNvSpPr/>
          <p:nvPr/>
        </p:nvSpPr>
        <p:spPr>
          <a:xfrm>
            <a:off x="841248" y="4754880"/>
            <a:ext cx="502920" cy="256032"/>
          </a:xfrm>
          <a:prstGeom prst="roundRect">
            <a:avLst>
              <a:gd name="adj" fmla="val 178571"/>
            </a:avLst>
          </a:prstGeom>
          <a:solidFill>
            <a:srgbClr val="2E9E8F"/>
          </a:solidFill>
          <a:ln/>
        </p:spPr>
      </p:sp>
      <p:sp>
        <p:nvSpPr>
          <p:cNvPr id="23" name="Text 21"/>
          <p:cNvSpPr/>
          <p:nvPr/>
        </p:nvSpPr>
        <p:spPr>
          <a:xfrm>
            <a:off x="841248" y="4754880"/>
            <a:ext cx="502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R1</a:t>
            </a:r>
            <a:endParaRPr lang="en-US" sz="1000" dirty="0"/>
          </a:p>
        </p:txBody>
      </p:sp>
      <p:sp>
        <p:nvSpPr>
          <p:cNvPr id="24" name="Text 22"/>
          <p:cNvSpPr/>
          <p:nvPr/>
        </p:nvSpPr>
        <p:spPr>
          <a:xfrm>
            <a:off x="841248" y="5102352"/>
            <a:ext cx="1673352"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No replay</a:t>
            </a:r>
            <a:endParaRPr lang="en-US" sz="1300" dirty="0"/>
          </a:p>
        </p:txBody>
      </p:sp>
      <p:sp>
        <p:nvSpPr>
          <p:cNvPr id="25" name="Text 23"/>
          <p:cNvSpPr/>
          <p:nvPr/>
        </p:nvSpPr>
        <p:spPr>
          <a:xfrm>
            <a:off x="841248" y="5376672"/>
            <a:ext cx="1673352" cy="603504"/>
          </a:xfrm>
          <a:prstGeom prst="rect">
            <a:avLst/>
          </a:prstGeom>
          <a:noFill/>
          <a:ln/>
        </p:spPr>
        <p:txBody>
          <a:bodyPr wrap="square" lIns="0" tIns="0" rIns="0" bIns="0" rtlCol="0" anchor="t"/>
          <a:lstStyle/>
          <a:p>
            <a:pPr indent="0" marL="0">
              <a:lnSpc>
                <a:spcPct val="105000"/>
              </a:lnSpc>
              <a:buNone/>
            </a:pPr>
            <a:r>
              <a:rPr lang="en-US" sz="1000" dirty="0">
                <a:solidFill>
                  <a:srgbClr val="6B7683"/>
                </a:solidFill>
                <a:latin typeface="Calibri" pitchFamily="34" charset="0"/>
                <a:ea typeface="Calibri" pitchFamily="34" charset="-122"/>
                <a:cs typeface="Calibri" pitchFamily="34" charset="-120"/>
              </a:rPr>
              <a:t>A captured exchange is useless the second time</a:t>
            </a:r>
            <a:endParaRPr lang="en-US" sz="1000" dirty="0"/>
          </a:p>
        </p:txBody>
      </p:sp>
      <p:sp>
        <p:nvSpPr>
          <p:cNvPr id="26" name="Shape 24"/>
          <p:cNvSpPr/>
          <p:nvPr/>
        </p:nvSpPr>
        <p:spPr>
          <a:xfrm>
            <a:off x="2884932" y="4535424"/>
            <a:ext cx="2075688" cy="1517904"/>
          </a:xfrm>
          <a:prstGeom prst="roundRect">
            <a:avLst>
              <a:gd name="adj" fmla="val 4217"/>
            </a:avLst>
          </a:prstGeom>
          <a:solidFill>
            <a:srgbClr val="F1F4F7"/>
          </a:solidFill>
          <a:ln w="12700">
            <a:solidFill>
              <a:srgbClr val="E4EAF0"/>
            </a:solidFill>
            <a:prstDash val="solid"/>
          </a:ln>
        </p:spPr>
      </p:sp>
      <p:sp>
        <p:nvSpPr>
          <p:cNvPr id="27" name="Shape 25"/>
          <p:cNvSpPr/>
          <p:nvPr/>
        </p:nvSpPr>
        <p:spPr>
          <a:xfrm>
            <a:off x="3086100" y="4754880"/>
            <a:ext cx="502920" cy="256032"/>
          </a:xfrm>
          <a:prstGeom prst="roundRect">
            <a:avLst>
              <a:gd name="adj" fmla="val 178571"/>
            </a:avLst>
          </a:prstGeom>
          <a:solidFill>
            <a:srgbClr val="2E9E8F"/>
          </a:solidFill>
          <a:ln/>
        </p:spPr>
      </p:sp>
      <p:sp>
        <p:nvSpPr>
          <p:cNvPr id="28" name="Text 26"/>
          <p:cNvSpPr/>
          <p:nvPr/>
        </p:nvSpPr>
        <p:spPr>
          <a:xfrm>
            <a:off x="3086100" y="4754880"/>
            <a:ext cx="502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R2</a:t>
            </a:r>
            <a:endParaRPr lang="en-US" sz="1000" dirty="0"/>
          </a:p>
        </p:txBody>
      </p:sp>
      <p:sp>
        <p:nvSpPr>
          <p:cNvPr id="29" name="Text 27"/>
          <p:cNvSpPr/>
          <p:nvPr/>
        </p:nvSpPr>
        <p:spPr>
          <a:xfrm>
            <a:off x="3086100" y="5102352"/>
            <a:ext cx="1673352"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Revocable</a:t>
            </a:r>
            <a:endParaRPr lang="en-US" sz="1300" dirty="0"/>
          </a:p>
        </p:txBody>
      </p:sp>
      <p:sp>
        <p:nvSpPr>
          <p:cNvPr id="30" name="Text 28"/>
          <p:cNvSpPr/>
          <p:nvPr/>
        </p:nvSpPr>
        <p:spPr>
          <a:xfrm>
            <a:off x="3086100" y="5376672"/>
            <a:ext cx="1673352" cy="603504"/>
          </a:xfrm>
          <a:prstGeom prst="rect">
            <a:avLst/>
          </a:prstGeom>
          <a:noFill/>
          <a:ln/>
        </p:spPr>
        <p:txBody>
          <a:bodyPr wrap="square" lIns="0" tIns="0" rIns="0" bIns="0" rtlCol="0" anchor="t"/>
          <a:lstStyle/>
          <a:p>
            <a:pPr indent="0" marL="0">
              <a:lnSpc>
                <a:spcPct val="105000"/>
              </a:lnSpc>
              <a:buNone/>
            </a:pPr>
            <a:r>
              <a:rPr lang="en-US" sz="1000" dirty="0">
                <a:solidFill>
                  <a:srgbClr val="6B7683"/>
                </a:solidFill>
                <a:latin typeface="Calibri" pitchFamily="34" charset="0"/>
                <a:ea typeface="Calibri" pitchFamily="34" charset="-122"/>
                <a:cs typeface="Calibri" pitchFamily="34" charset="-120"/>
              </a:rPr>
              <a:t>Per-device credentials, individually revoked</a:t>
            </a:r>
            <a:endParaRPr lang="en-US" sz="1000" dirty="0"/>
          </a:p>
        </p:txBody>
      </p:sp>
      <p:sp>
        <p:nvSpPr>
          <p:cNvPr id="31" name="Shape 29"/>
          <p:cNvSpPr/>
          <p:nvPr/>
        </p:nvSpPr>
        <p:spPr>
          <a:xfrm>
            <a:off x="5129784" y="4535424"/>
            <a:ext cx="2075688" cy="1517904"/>
          </a:xfrm>
          <a:prstGeom prst="roundRect">
            <a:avLst>
              <a:gd name="adj" fmla="val 4217"/>
            </a:avLst>
          </a:prstGeom>
          <a:solidFill>
            <a:srgbClr val="F1F4F7"/>
          </a:solidFill>
          <a:ln w="12700">
            <a:solidFill>
              <a:srgbClr val="E4EAF0"/>
            </a:solidFill>
            <a:prstDash val="solid"/>
          </a:ln>
        </p:spPr>
      </p:sp>
      <p:sp>
        <p:nvSpPr>
          <p:cNvPr id="32" name="Shape 30"/>
          <p:cNvSpPr/>
          <p:nvPr/>
        </p:nvSpPr>
        <p:spPr>
          <a:xfrm>
            <a:off x="5330952" y="4754880"/>
            <a:ext cx="502920" cy="256032"/>
          </a:xfrm>
          <a:prstGeom prst="roundRect">
            <a:avLst>
              <a:gd name="adj" fmla="val 178571"/>
            </a:avLst>
          </a:prstGeom>
          <a:solidFill>
            <a:srgbClr val="E08A2E"/>
          </a:solidFill>
          <a:ln/>
        </p:spPr>
      </p:sp>
      <p:sp>
        <p:nvSpPr>
          <p:cNvPr id="33" name="Text 31"/>
          <p:cNvSpPr/>
          <p:nvPr/>
        </p:nvSpPr>
        <p:spPr>
          <a:xfrm>
            <a:off x="5330952" y="4754880"/>
            <a:ext cx="502920" cy="256032"/>
          </a:xfrm>
          <a:prstGeom prst="rect">
            <a:avLst/>
          </a:prstGeom>
          <a:noFill/>
          <a:ln/>
        </p:spPr>
        <p:txBody>
          <a:bodyPr wrap="square" lIns="0" tIns="0" rIns="0" bIns="0" rtlCol="0" anchor="ctr"/>
          <a:lstStyle/>
          <a:p>
            <a:pPr algn="ctr" indent="0" marL="0">
              <a:buNone/>
            </a:pPr>
            <a:r>
              <a:rPr lang="en-US" sz="1000" b="1" dirty="0">
                <a:solidFill>
                  <a:srgbClr val="10141C"/>
                </a:solidFill>
                <a:latin typeface="Calibri" pitchFamily="34" charset="0"/>
                <a:ea typeface="Calibri" pitchFamily="34" charset="-122"/>
                <a:cs typeface="Calibri" pitchFamily="34" charset="-120"/>
              </a:rPr>
              <a:t>R3</a:t>
            </a:r>
            <a:endParaRPr lang="en-US" sz="1000" dirty="0"/>
          </a:p>
        </p:txBody>
      </p:sp>
      <p:sp>
        <p:nvSpPr>
          <p:cNvPr id="34" name="Text 32"/>
          <p:cNvSpPr/>
          <p:nvPr/>
        </p:nvSpPr>
        <p:spPr>
          <a:xfrm>
            <a:off x="5330952" y="5102352"/>
            <a:ext cx="1673352"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Physical presence</a:t>
            </a:r>
            <a:endParaRPr lang="en-US" sz="1300" dirty="0"/>
          </a:p>
        </p:txBody>
      </p:sp>
      <p:sp>
        <p:nvSpPr>
          <p:cNvPr id="35" name="Text 33"/>
          <p:cNvSpPr/>
          <p:nvPr/>
        </p:nvSpPr>
        <p:spPr>
          <a:xfrm>
            <a:off x="5330952" y="5376672"/>
            <a:ext cx="1673352" cy="603504"/>
          </a:xfrm>
          <a:prstGeom prst="rect">
            <a:avLst/>
          </a:prstGeom>
          <a:noFill/>
          <a:ln/>
        </p:spPr>
        <p:txBody>
          <a:bodyPr wrap="square" lIns="0" tIns="0" rIns="0" bIns="0" rtlCol="0" anchor="t"/>
          <a:lstStyle/>
          <a:p>
            <a:pPr indent="0" marL="0">
              <a:lnSpc>
                <a:spcPct val="105000"/>
              </a:lnSpc>
              <a:buNone/>
            </a:pPr>
            <a:r>
              <a:rPr lang="en-US" sz="1000" dirty="0">
                <a:solidFill>
                  <a:srgbClr val="6B7683"/>
                </a:solidFill>
                <a:latin typeface="Calibri" pitchFamily="34" charset="0"/>
                <a:ea typeface="Calibri" pitchFamily="34" charset="-122"/>
                <a:cs typeface="Calibri" pitchFamily="34" charset="-120"/>
              </a:rPr>
              <a:t>Enrollment requires a button on the lock</a:t>
            </a:r>
            <a:endParaRPr lang="en-US" sz="1000" dirty="0"/>
          </a:p>
        </p:txBody>
      </p:sp>
      <p:sp>
        <p:nvSpPr>
          <p:cNvPr id="36" name="Shape 34"/>
          <p:cNvSpPr/>
          <p:nvPr/>
        </p:nvSpPr>
        <p:spPr>
          <a:xfrm>
            <a:off x="7374636" y="4535424"/>
            <a:ext cx="2075688" cy="1517904"/>
          </a:xfrm>
          <a:prstGeom prst="roundRect">
            <a:avLst>
              <a:gd name="adj" fmla="val 4217"/>
            </a:avLst>
          </a:prstGeom>
          <a:solidFill>
            <a:srgbClr val="F1F4F7"/>
          </a:solidFill>
          <a:ln w="12700">
            <a:solidFill>
              <a:srgbClr val="E4EAF0"/>
            </a:solidFill>
            <a:prstDash val="solid"/>
          </a:ln>
        </p:spPr>
      </p:sp>
      <p:sp>
        <p:nvSpPr>
          <p:cNvPr id="37" name="Shape 35"/>
          <p:cNvSpPr/>
          <p:nvPr/>
        </p:nvSpPr>
        <p:spPr>
          <a:xfrm>
            <a:off x="7575804" y="4754880"/>
            <a:ext cx="502920" cy="256032"/>
          </a:xfrm>
          <a:prstGeom prst="roundRect">
            <a:avLst>
              <a:gd name="adj" fmla="val 178571"/>
            </a:avLst>
          </a:prstGeom>
          <a:solidFill>
            <a:srgbClr val="2E9E8F"/>
          </a:solidFill>
          <a:ln/>
        </p:spPr>
      </p:sp>
      <p:sp>
        <p:nvSpPr>
          <p:cNvPr id="38" name="Text 36"/>
          <p:cNvSpPr/>
          <p:nvPr/>
        </p:nvSpPr>
        <p:spPr>
          <a:xfrm>
            <a:off x="7575804" y="4754880"/>
            <a:ext cx="502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R4</a:t>
            </a:r>
            <a:endParaRPr lang="en-US" sz="1000" dirty="0"/>
          </a:p>
        </p:txBody>
      </p:sp>
      <p:sp>
        <p:nvSpPr>
          <p:cNvPr id="39" name="Text 37"/>
          <p:cNvSpPr/>
          <p:nvPr/>
        </p:nvSpPr>
        <p:spPr>
          <a:xfrm>
            <a:off x="7575804" y="5102352"/>
            <a:ext cx="1673352"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Auditable</a:t>
            </a:r>
            <a:endParaRPr lang="en-US" sz="1300" dirty="0"/>
          </a:p>
        </p:txBody>
      </p:sp>
      <p:sp>
        <p:nvSpPr>
          <p:cNvPr id="40" name="Text 38"/>
          <p:cNvSpPr/>
          <p:nvPr/>
        </p:nvSpPr>
        <p:spPr>
          <a:xfrm>
            <a:off x="7575804" y="5376672"/>
            <a:ext cx="1673352" cy="603504"/>
          </a:xfrm>
          <a:prstGeom prst="rect">
            <a:avLst/>
          </a:prstGeom>
          <a:noFill/>
          <a:ln/>
        </p:spPr>
        <p:txBody>
          <a:bodyPr wrap="square" lIns="0" tIns="0" rIns="0" bIns="0" rtlCol="0" anchor="t"/>
          <a:lstStyle/>
          <a:p>
            <a:pPr indent="0" marL="0">
              <a:lnSpc>
                <a:spcPct val="105000"/>
              </a:lnSpc>
              <a:buNone/>
            </a:pPr>
            <a:r>
              <a:rPr lang="en-US" sz="1000" dirty="0">
                <a:solidFill>
                  <a:srgbClr val="6B7683"/>
                </a:solidFill>
                <a:latin typeface="Calibri" pitchFamily="34" charset="0"/>
                <a:ea typeface="Calibri" pitchFamily="34" charset="-122"/>
                <a:cs typeface="Calibri" pitchFamily="34" charset="-120"/>
              </a:rPr>
              <a:t>Who opened what, when, and whether it worked</a:t>
            </a:r>
            <a:endParaRPr lang="en-US" sz="1000" dirty="0"/>
          </a:p>
        </p:txBody>
      </p:sp>
      <p:sp>
        <p:nvSpPr>
          <p:cNvPr id="41" name="Shape 39"/>
          <p:cNvSpPr/>
          <p:nvPr/>
        </p:nvSpPr>
        <p:spPr>
          <a:xfrm>
            <a:off x="9619488" y="4535424"/>
            <a:ext cx="2075688" cy="1517904"/>
          </a:xfrm>
          <a:prstGeom prst="roundRect">
            <a:avLst>
              <a:gd name="adj" fmla="val 4217"/>
            </a:avLst>
          </a:prstGeom>
          <a:solidFill>
            <a:srgbClr val="F1F4F7"/>
          </a:solidFill>
          <a:ln w="12700">
            <a:solidFill>
              <a:srgbClr val="E4EAF0"/>
            </a:solidFill>
            <a:prstDash val="solid"/>
          </a:ln>
        </p:spPr>
      </p:sp>
      <p:sp>
        <p:nvSpPr>
          <p:cNvPr id="42" name="Shape 40"/>
          <p:cNvSpPr/>
          <p:nvPr/>
        </p:nvSpPr>
        <p:spPr>
          <a:xfrm>
            <a:off x="9820656" y="4754880"/>
            <a:ext cx="502920" cy="256032"/>
          </a:xfrm>
          <a:prstGeom prst="roundRect">
            <a:avLst>
              <a:gd name="adj" fmla="val 178571"/>
            </a:avLst>
          </a:prstGeom>
          <a:solidFill>
            <a:srgbClr val="2E9E8F"/>
          </a:solidFill>
          <a:ln/>
        </p:spPr>
      </p:sp>
      <p:sp>
        <p:nvSpPr>
          <p:cNvPr id="43" name="Text 41"/>
          <p:cNvSpPr/>
          <p:nvPr/>
        </p:nvSpPr>
        <p:spPr>
          <a:xfrm>
            <a:off x="9820656" y="4754880"/>
            <a:ext cx="502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R5</a:t>
            </a:r>
            <a:endParaRPr lang="en-US" sz="1000" dirty="0"/>
          </a:p>
        </p:txBody>
      </p:sp>
      <p:sp>
        <p:nvSpPr>
          <p:cNvPr id="44" name="Text 42"/>
          <p:cNvSpPr/>
          <p:nvPr/>
        </p:nvSpPr>
        <p:spPr>
          <a:xfrm>
            <a:off x="9820656" y="5102352"/>
            <a:ext cx="1673352"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One protocol</a:t>
            </a:r>
            <a:endParaRPr lang="en-US" sz="1300" dirty="0"/>
          </a:p>
        </p:txBody>
      </p:sp>
      <p:sp>
        <p:nvSpPr>
          <p:cNvPr id="45" name="Text 43"/>
          <p:cNvSpPr/>
          <p:nvPr/>
        </p:nvSpPr>
        <p:spPr>
          <a:xfrm>
            <a:off x="9820656" y="5376672"/>
            <a:ext cx="1673352" cy="603504"/>
          </a:xfrm>
          <a:prstGeom prst="rect">
            <a:avLst/>
          </a:prstGeom>
          <a:noFill/>
          <a:ln/>
        </p:spPr>
        <p:txBody>
          <a:bodyPr wrap="square" lIns="0" tIns="0" rIns="0" bIns="0" rtlCol="0" anchor="t"/>
          <a:lstStyle/>
          <a:p>
            <a:pPr indent="0" marL="0">
              <a:lnSpc>
                <a:spcPct val="105000"/>
              </a:lnSpc>
              <a:buNone/>
            </a:pPr>
            <a:r>
              <a:rPr lang="en-US" sz="1000" dirty="0">
                <a:solidFill>
                  <a:srgbClr val="6B7683"/>
                </a:solidFill>
                <a:latin typeface="Calibri" pitchFamily="34" charset="0"/>
                <a:ea typeface="Calibri" pitchFamily="34" charset="-122"/>
                <a:cs typeface="Calibri" pitchFamily="34" charset="-120"/>
              </a:rPr>
              <a:t>Identical on iOS and on Android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PROPOSED SOLUTION</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Each requirement maps to one mechanism</a:t>
            </a:r>
            <a:endParaRPr lang="en-US" sz="3100" dirty="0"/>
          </a:p>
        </p:txBody>
      </p:sp>
      <p:sp>
        <p:nvSpPr>
          <p:cNvPr id="4" name="Shape 2"/>
          <p:cNvSpPr/>
          <p:nvPr/>
        </p:nvSpPr>
        <p:spPr>
          <a:xfrm>
            <a:off x="640080" y="1371600"/>
            <a:ext cx="6812280" cy="822960"/>
          </a:xfrm>
          <a:prstGeom prst="roundRect">
            <a:avLst>
              <a:gd name="adj" fmla="val 7778"/>
            </a:avLst>
          </a:prstGeom>
          <a:solidFill>
            <a:srgbClr val="E4EAF0"/>
          </a:solidFill>
          <a:ln/>
        </p:spPr>
      </p:sp>
      <p:sp>
        <p:nvSpPr>
          <p:cNvPr id="5" name="Shape 3"/>
          <p:cNvSpPr/>
          <p:nvPr/>
        </p:nvSpPr>
        <p:spPr>
          <a:xfrm>
            <a:off x="859536" y="1655064"/>
            <a:ext cx="502920" cy="256032"/>
          </a:xfrm>
          <a:prstGeom prst="roundRect">
            <a:avLst>
              <a:gd name="adj" fmla="val 178571"/>
            </a:avLst>
          </a:prstGeom>
          <a:solidFill>
            <a:srgbClr val="E08A2E"/>
          </a:solidFill>
          <a:ln/>
        </p:spPr>
      </p:sp>
      <p:sp>
        <p:nvSpPr>
          <p:cNvPr id="6" name="Text 4"/>
          <p:cNvSpPr/>
          <p:nvPr/>
        </p:nvSpPr>
        <p:spPr>
          <a:xfrm>
            <a:off x="859536" y="1655064"/>
            <a:ext cx="502920" cy="256032"/>
          </a:xfrm>
          <a:prstGeom prst="rect">
            <a:avLst/>
          </a:prstGeom>
          <a:noFill/>
          <a:ln/>
        </p:spPr>
        <p:txBody>
          <a:bodyPr wrap="square" lIns="0" tIns="0" rIns="0" bIns="0" rtlCol="0" anchor="ctr"/>
          <a:lstStyle/>
          <a:p>
            <a:pPr algn="ctr" indent="0" marL="0">
              <a:buNone/>
            </a:pPr>
            <a:r>
              <a:rPr lang="en-US" sz="1000" b="1" dirty="0">
                <a:solidFill>
                  <a:srgbClr val="10141C"/>
                </a:solidFill>
                <a:latin typeface="Calibri" pitchFamily="34" charset="0"/>
                <a:ea typeface="Calibri" pitchFamily="34" charset="-122"/>
                <a:cs typeface="Calibri" pitchFamily="34" charset="-120"/>
              </a:rPr>
              <a:t>R3</a:t>
            </a:r>
            <a:endParaRPr lang="en-US" sz="1000" dirty="0"/>
          </a:p>
        </p:txBody>
      </p:sp>
      <p:sp>
        <p:nvSpPr>
          <p:cNvPr id="7" name="Text 5"/>
          <p:cNvSpPr/>
          <p:nvPr/>
        </p:nvSpPr>
        <p:spPr>
          <a:xfrm>
            <a:off x="1508760" y="1481328"/>
            <a:ext cx="5715000" cy="310896"/>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Enrollment is approved by a physical button on the lock.</a:t>
            </a:r>
            <a:endParaRPr lang="en-US" sz="1350" dirty="0"/>
          </a:p>
        </p:txBody>
      </p:sp>
      <p:sp>
        <p:nvSpPr>
          <p:cNvPr id="8" name="Text 6"/>
          <p:cNvSpPr/>
          <p:nvPr/>
        </p:nvSpPr>
        <p:spPr>
          <a:xfrm>
            <a:off x="1508760" y="1783080"/>
            <a:ext cx="5715000" cy="329184"/>
          </a:xfrm>
          <a:prstGeom prst="rect">
            <a:avLst/>
          </a:prstGeom>
          <a:noFill/>
          <a:ln/>
        </p:spPr>
        <p:txBody>
          <a:bodyPr wrap="square" lIns="0" tIns="0" rIns="0" bIns="0" rtlCol="0" anchor="t"/>
          <a:lstStyle/>
          <a:p>
            <a:pPr indent="0" marL="0">
              <a:lnSpc>
                <a:spcPct val="105000"/>
              </a:lnSpc>
              <a:buNone/>
            </a:pPr>
            <a:r>
              <a:rPr lang="en-US" sz="1100" dirty="0">
                <a:solidFill>
                  <a:srgbClr val="6B7683"/>
                </a:solidFill>
                <a:latin typeface="Calibri" pitchFamily="34" charset="0"/>
                <a:ea typeface="Calibri" pitchFamily="34" charset="-122"/>
                <a:cs typeface="Calibri" pitchFamily="34" charset="-120"/>
              </a:rPr>
              <a:t>Nothing sent over the air can bypass it.</a:t>
            </a:r>
            <a:endParaRPr lang="en-US" sz="1100" dirty="0"/>
          </a:p>
        </p:txBody>
      </p:sp>
      <p:sp>
        <p:nvSpPr>
          <p:cNvPr id="9" name="Shape 7"/>
          <p:cNvSpPr/>
          <p:nvPr/>
        </p:nvSpPr>
        <p:spPr>
          <a:xfrm>
            <a:off x="640080" y="2267712"/>
            <a:ext cx="6812280" cy="822960"/>
          </a:xfrm>
          <a:prstGeom prst="roundRect">
            <a:avLst>
              <a:gd name="adj" fmla="val 7778"/>
            </a:avLst>
          </a:prstGeom>
          <a:solidFill>
            <a:srgbClr val="F1F4F7"/>
          </a:solidFill>
          <a:ln/>
        </p:spPr>
      </p:sp>
      <p:sp>
        <p:nvSpPr>
          <p:cNvPr id="10" name="Shape 8"/>
          <p:cNvSpPr/>
          <p:nvPr/>
        </p:nvSpPr>
        <p:spPr>
          <a:xfrm>
            <a:off x="859536" y="2551176"/>
            <a:ext cx="502920" cy="256032"/>
          </a:xfrm>
          <a:prstGeom prst="roundRect">
            <a:avLst>
              <a:gd name="adj" fmla="val 178571"/>
            </a:avLst>
          </a:prstGeom>
          <a:solidFill>
            <a:srgbClr val="2E9E8F"/>
          </a:solidFill>
          <a:ln/>
        </p:spPr>
      </p:sp>
      <p:sp>
        <p:nvSpPr>
          <p:cNvPr id="11" name="Text 9"/>
          <p:cNvSpPr/>
          <p:nvPr/>
        </p:nvSpPr>
        <p:spPr>
          <a:xfrm>
            <a:off x="859536" y="2551176"/>
            <a:ext cx="502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R2</a:t>
            </a:r>
            <a:endParaRPr lang="en-US" sz="1000" dirty="0"/>
          </a:p>
        </p:txBody>
      </p:sp>
      <p:sp>
        <p:nvSpPr>
          <p:cNvPr id="12" name="Text 10"/>
          <p:cNvSpPr/>
          <p:nvPr/>
        </p:nvSpPr>
        <p:spPr>
          <a:xfrm>
            <a:off x="1508760" y="2377440"/>
            <a:ext cx="5715000" cy="310896"/>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On approval the lock generates 32 random bytes, unique to that phone.</a:t>
            </a:r>
            <a:endParaRPr lang="en-US" sz="1350" dirty="0"/>
          </a:p>
        </p:txBody>
      </p:sp>
      <p:sp>
        <p:nvSpPr>
          <p:cNvPr id="13" name="Text 11"/>
          <p:cNvSpPr/>
          <p:nvPr/>
        </p:nvSpPr>
        <p:spPr>
          <a:xfrm>
            <a:off x="1508760" y="2679192"/>
            <a:ext cx="5715000" cy="329184"/>
          </a:xfrm>
          <a:prstGeom prst="rect">
            <a:avLst/>
          </a:prstGeom>
          <a:noFill/>
          <a:ln/>
        </p:spPr>
        <p:txBody>
          <a:bodyPr wrap="square" lIns="0" tIns="0" rIns="0" bIns="0" rtlCol="0" anchor="t"/>
          <a:lstStyle/>
          <a:p>
            <a:pPr indent="0" marL="0">
              <a:lnSpc>
                <a:spcPct val="105000"/>
              </a:lnSpc>
              <a:buNone/>
            </a:pPr>
            <a:r>
              <a:rPr lang="en-US" sz="1100" dirty="0">
                <a:solidFill>
                  <a:srgbClr val="6B7683"/>
                </a:solidFill>
                <a:latin typeface="Calibri" pitchFamily="34" charset="0"/>
                <a:ea typeface="Calibri" pitchFamily="34" charset="-122"/>
                <a:cs typeface="Calibri" pitchFamily="34" charset="-120"/>
              </a:rPr>
              <a:t>Revoking one phone touches nobody else.</a:t>
            </a:r>
            <a:endParaRPr lang="en-US" sz="1100" dirty="0"/>
          </a:p>
        </p:txBody>
      </p:sp>
      <p:sp>
        <p:nvSpPr>
          <p:cNvPr id="14" name="Shape 12"/>
          <p:cNvSpPr/>
          <p:nvPr/>
        </p:nvSpPr>
        <p:spPr>
          <a:xfrm>
            <a:off x="640080" y="3163824"/>
            <a:ext cx="6812280" cy="822960"/>
          </a:xfrm>
          <a:prstGeom prst="roundRect">
            <a:avLst>
              <a:gd name="adj" fmla="val 7778"/>
            </a:avLst>
          </a:prstGeom>
          <a:solidFill>
            <a:srgbClr val="F1F4F7"/>
          </a:solidFill>
          <a:ln/>
        </p:spPr>
      </p:sp>
      <p:sp>
        <p:nvSpPr>
          <p:cNvPr id="15" name="Shape 13"/>
          <p:cNvSpPr/>
          <p:nvPr/>
        </p:nvSpPr>
        <p:spPr>
          <a:xfrm>
            <a:off x="859536" y="3447288"/>
            <a:ext cx="502920" cy="256032"/>
          </a:xfrm>
          <a:prstGeom prst="roundRect">
            <a:avLst>
              <a:gd name="adj" fmla="val 178571"/>
            </a:avLst>
          </a:prstGeom>
          <a:solidFill>
            <a:srgbClr val="2E9E8F"/>
          </a:solidFill>
          <a:ln/>
        </p:spPr>
      </p:sp>
      <p:sp>
        <p:nvSpPr>
          <p:cNvPr id="16" name="Text 14"/>
          <p:cNvSpPr/>
          <p:nvPr/>
        </p:nvSpPr>
        <p:spPr>
          <a:xfrm>
            <a:off x="859536" y="3447288"/>
            <a:ext cx="502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R1</a:t>
            </a:r>
            <a:endParaRPr lang="en-US" sz="1000" dirty="0"/>
          </a:p>
        </p:txBody>
      </p:sp>
      <p:sp>
        <p:nvSpPr>
          <p:cNvPr id="17" name="Text 15"/>
          <p:cNvSpPr/>
          <p:nvPr/>
        </p:nvSpPr>
        <p:spPr>
          <a:xfrm>
            <a:off x="1508760" y="3273552"/>
            <a:ext cx="5715000" cy="310896"/>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Unlocking is a challenge–response.</a:t>
            </a:r>
            <a:endParaRPr lang="en-US" sz="1350" dirty="0"/>
          </a:p>
        </p:txBody>
      </p:sp>
      <p:sp>
        <p:nvSpPr>
          <p:cNvPr id="18" name="Text 16"/>
          <p:cNvSpPr/>
          <p:nvPr/>
        </p:nvSpPr>
        <p:spPr>
          <a:xfrm>
            <a:off x="1508760" y="3575304"/>
            <a:ext cx="5715000" cy="329184"/>
          </a:xfrm>
          <a:prstGeom prst="rect">
            <a:avLst/>
          </a:prstGeom>
          <a:noFill/>
          <a:ln/>
        </p:spPr>
        <p:txBody>
          <a:bodyPr wrap="square" lIns="0" tIns="0" rIns="0" bIns="0" rtlCol="0" anchor="t"/>
          <a:lstStyle/>
          <a:p>
            <a:pPr indent="0" marL="0">
              <a:lnSpc>
                <a:spcPct val="105000"/>
              </a:lnSpc>
              <a:buNone/>
            </a:pPr>
            <a:r>
              <a:rPr lang="en-US" sz="1100" dirty="0">
                <a:solidFill>
                  <a:srgbClr val="6B7683"/>
                </a:solidFill>
                <a:latin typeface="Calibri" pitchFamily="34" charset="0"/>
                <a:ea typeface="Calibri" pitchFamily="34" charset="-122"/>
                <a:cs typeface="Calibri" pitchFamily="34" charset="-120"/>
              </a:rPr>
              <a:t>The lock issues a fresh nonce; the phone proves it holds the secret. The secret never crosses the air again.</a:t>
            </a:r>
            <a:endParaRPr lang="en-US" sz="1100" dirty="0"/>
          </a:p>
        </p:txBody>
      </p:sp>
      <p:sp>
        <p:nvSpPr>
          <p:cNvPr id="19" name="Shape 17"/>
          <p:cNvSpPr/>
          <p:nvPr/>
        </p:nvSpPr>
        <p:spPr>
          <a:xfrm>
            <a:off x="640080" y="4059936"/>
            <a:ext cx="6812280" cy="822960"/>
          </a:xfrm>
          <a:prstGeom prst="roundRect">
            <a:avLst>
              <a:gd name="adj" fmla="val 7778"/>
            </a:avLst>
          </a:prstGeom>
          <a:solidFill>
            <a:srgbClr val="F1F4F7"/>
          </a:solidFill>
          <a:ln/>
        </p:spPr>
      </p:sp>
      <p:sp>
        <p:nvSpPr>
          <p:cNvPr id="20" name="Shape 18"/>
          <p:cNvSpPr/>
          <p:nvPr/>
        </p:nvSpPr>
        <p:spPr>
          <a:xfrm>
            <a:off x="859536" y="4343400"/>
            <a:ext cx="502920" cy="256032"/>
          </a:xfrm>
          <a:prstGeom prst="roundRect">
            <a:avLst>
              <a:gd name="adj" fmla="val 178571"/>
            </a:avLst>
          </a:prstGeom>
          <a:solidFill>
            <a:srgbClr val="2E9E8F"/>
          </a:solidFill>
          <a:ln/>
        </p:spPr>
      </p:sp>
      <p:sp>
        <p:nvSpPr>
          <p:cNvPr id="21" name="Text 19"/>
          <p:cNvSpPr/>
          <p:nvPr/>
        </p:nvSpPr>
        <p:spPr>
          <a:xfrm>
            <a:off x="859536" y="4343400"/>
            <a:ext cx="502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R4</a:t>
            </a:r>
            <a:endParaRPr lang="en-US" sz="1000" dirty="0"/>
          </a:p>
        </p:txBody>
      </p:sp>
      <p:sp>
        <p:nvSpPr>
          <p:cNvPr id="22" name="Text 20"/>
          <p:cNvSpPr/>
          <p:nvPr/>
        </p:nvSpPr>
        <p:spPr>
          <a:xfrm>
            <a:off x="1508760" y="4169664"/>
            <a:ext cx="5715000" cy="310896"/>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Every operation lands in a SQLite access log.</a:t>
            </a:r>
            <a:endParaRPr lang="en-US" sz="1350" dirty="0"/>
          </a:p>
        </p:txBody>
      </p:sp>
      <p:sp>
        <p:nvSpPr>
          <p:cNvPr id="23" name="Text 21"/>
          <p:cNvSpPr/>
          <p:nvPr/>
        </p:nvSpPr>
        <p:spPr>
          <a:xfrm>
            <a:off x="1508760" y="4471416"/>
            <a:ext cx="5715000" cy="329184"/>
          </a:xfrm>
          <a:prstGeom prst="rect">
            <a:avLst/>
          </a:prstGeom>
          <a:noFill/>
          <a:ln/>
        </p:spPr>
        <p:txBody>
          <a:bodyPr wrap="square" lIns="0" tIns="0" rIns="0" bIns="0" rtlCol="0" anchor="t"/>
          <a:lstStyle/>
          <a:p>
            <a:pPr indent="0" marL="0">
              <a:lnSpc>
                <a:spcPct val="105000"/>
              </a:lnSpc>
              <a:buNone/>
            </a:pPr>
            <a:r>
              <a:rPr lang="en-US" sz="1100" dirty="0">
                <a:solidFill>
                  <a:srgbClr val="6B7683"/>
                </a:solidFill>
                <a:latin typeface="Calibri" pitchFamily="34" charset="0"/>
                <a:ea typeface="Calibri" pitchFamily="34" charset="-122"/>
                <a:cs typeface="Calibri" pitchFamily="34" charset="-120"/>
              </a:rPr>
              <a:t>Which never contains a secret, a nonce, or a MAC.</a:t>
            </a:r>
            <a:endParaRPr lang="en-US" sz="1100" dirty="0"/>
          </a:p>
        </p:txBody>
      </p:sp>
      <p:sp>
        <p:nvSpPr>
          <p:cNvPr id="24" name="Shape 22"/>
          <p:cNvSpPr/>
          <p:nvPr/>
        </p:nvSpPr>
        <p:spPr>
          <a:xfrm>
            <a:off x="640080" y="4956048"/>
            <a:ext cx="6812280" cy="822960"/>
          </a:xfrm>
          <a:prstGeom prst="roundRect">
            <a:avLst>
              <a:gd name="adj" fmla="val 7778"/>
            </a:avLst>
          </a:prstGeom>
          <a:solidFill>
            <a:srgbClr val="F1F4F7"/>
          </a:solidFill>
          <a:ln/>
        </p:spPr>
      </p:sp>
      <p:sp>
        <p:nvSpPr>
          <p:cNvPr id="25" name="Shape 23"/>
          <p:cNvSpPr/>
          <p:nvPr/>
        </p:nvSpPr>
        <p:spPr>
          <a:xfrm>
            <a:off x="859536" y="5239512"/>
            <a:ext cx="502920" cy="256032"/>
          </a:xfrm>
          <a:prstGeom prst="roundRect">
            <a:avLst>
              <a:gd name="adj" fmla="val 178571"/>
            </a:avLst>
          </a:prstGeom>
          <a:solidFill>
            <a:srgbClr val="2E9E8F"/>
          </a:solidFill>
          <a:ln/>
        </p:spPr>
      </p:sp>
      <p:sp>
        <p:nvSpPr>
          <p:cNvPr id="26" name="Text 24"/>
          <p:cNvSpPr/>
          <p:nvPr/>
        </p:nvSpPr>
        <p:spPr>
          <a:xfrm>
            <a:off x="859536" y="5239512"/>
            <a:ext cx="502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R5</a:t>
            </a:r>
            <a:endParaRPr lang="en-US" sz="1000" dirty="0"/>
          </a:p>
        </p:txBody>
      </p:sp>
      <p:sp>
        <p:nvSpPr>
          <p:cNvPr id="27" name="Text 25"/>
          <p:cNvSpPr/>
          <p:nvPr/>
        </p:nvSpPr>
        <p:spPr>
          <a:xfrm>
            <a:off x="1508760" y="5065776"/>
            <a:ext cx="5715000" cy="310896"/>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One wire format, three implementations.</a:t>
            </a:r>
            <a:endParaRPr lang="en-US" sz="1350" dirty="0"/>
          </a:p>
        </p:txBody>
      </p:sp>
      <p:sp>
        <p:nvSpPr>
          <p:cNvPr id="28" name="Text 26"/>
          <p:cNvSpPr/>
          <p:nvPr/>
        </p:nvSpPr>
        <p:spPr>
          <a:xfrm>
            <a:off x="1508760" y="5367528"/>
            <a:ext cx="5715000" cy="329184"/>
          </a:xfrm>
          <a:prstGeom prst="rect">
            <a:avLst/>
          </a:prstGeom>
          <a:noFill/>
          <a:ln/>
        </p:spPr>
        <p:txBody>
          <a:bodyPr wrap="square" lIns="0" tIns="0" rIns="0" bIns="0" rtlCol="0" anchor="t"/>
          <a:lstStyle/>
          <a:p>
            <a:pPr indent="0" marL="0">
              <a:lnSpc>
                <a:spcPct val="105000"/>
              </a:lnSpc>
              <a:buNone/>
            </a:pPr>
            <a:r>
              <a:rPr lang="en-US" sz="1100" dirty="0">
                <a:solidFill>
                  <a:srgbClr val="6B7683"/>
                </a:solidFill>
                <a:latin typeface="Calibri" pitchFamily="34" charset="0"/>
                <a:ea typeface="Calibri" pitchFamily="34" charset="-122"/>
                <a:cs typeface="Calibri" pitchFamily="34" charset="-120"/>
              </a:rPr>
              <a:t>The peripheral has no platform-specific code.</a:t>
            </a:r>
            <a:endParaRPr lang="en-US" sz="1100" dirty="0"/>
          </a:p>
        </p:txBody>
      </p:sp>
      <p:sp>
        <p:nvSpPr>
          <p:cNvPr id="29" name="Shape 27"/>
          <p:cNvSpPr/>
          <p:nvPr/>
        </p:nvSpPr>
        <p:spPr>
          <a:xfrm>
            <a:off x="7726680" y="1371600"/>
            <a:ext cx="3822192" cy="4133088"/>
          </a:xfrm>
          <a:prstGeom prst="roundRect">
            <a:avLst>
              <a:gd name="adj" fmla="val 1675"/>
            </a:avLst>
          </a:prstGeom>
          <a:solidFill>
            <a:srgbClr val="10141C"/>
          </a:solidFill>
          <a:ln/>
        </p:spPr>
      </p:sp>
      <p:sp>
        <p:nvSpPr>
          <p:cNvPr id="30" name="Text 28"/>
          <p:cNvSpPr/>
          <p:nvPr/>
        </p:nvSpPr>
        <p:spPr>
          <a:xfrm>
            <a:off x="8019288" y="1600200"/>
            <a:ext cx="3236976" cy="237744"/>
          </a:xfrm>
          <a:prstGeom prst="rect">
            <a:avLst/>
          </a:prstGeom>
          <a:noFill/>
          <a:ln/>
        </p:spPr>
        <p:txBody>
          <a:bodyPr wrap="square" lIns="0" tIns="0" rIns="0" bIns="0" rtlCol="0" anchor="ctr"/>
          <a:lstStyle/>
          <a:p>
            <a:pPr indent="0" marL="0">
              <a:buNone/>
            </a:pPr>
            <a:r>
              <a:rPr lang="en-US" sz="1000" b="1" spc="160" kern="0" dirty="0">
                <a:solidFill>
                  <a:srgbClr val="E08A2E"/>
                </a:solidFill>
                <a:latin typeface="Calibri" pitchFamily="34" charset="0"/>
                <a:ea typeface="Calibri" pitchFamily="34" charset="-122"/>
                <a:cs typeface="Calibri" pitchFamily="34" charset="-120"/>
              </a:rPr>
              <a:t>WHO SPEAKS IT</a:t>
            </a:r>
            <a:endParaRPr lang="en-US" sz="1000" dirty="0"/>
          </a:p>
        </p:txBody>
      </p:sp>
      <p:sp>
        <p:nvSpPr>
          <p:cNvPr id="31" name="Shape 29"/>
          <p:cNvSpPr/>
          <p:nvPr/>
        </p:nvSpPr>
        <p:spPr>
          <a:xfrm>
            <a:off x="8019288" y="2093976"/>
            <a:ext cx="146304" cy="146304"/>
          </a:xfrm>
          <a:prstGeom prst="ellipse">
            <a:avLst/>
          </a:prstGeom>
          <a:solidFill>
            <a:srgbClr val="E08A2E"/>
          </a:solidFill>
          <a:ln/>
        </p:spPr>
      </p:sp>
      <p:sp>
        <p:nvSpPr>
          <p:cNvPr id="32" name="Text 30"/>
          <p:cNvSpPr/>
          <p:nvPr/>
        </p:nvSpPr>
        <p:spPr>
          <a:xfrm>
            <a:off x="8275320" y="2011680"/>
            <a:ext cx="2980944"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Raspberry Pi 3B+</a:t>
            </a:r>
            <a:endParaRPr lang="en-US" sz="1350" dirty="0"/>
          </a:p>
        </p:txBody>
      </p:sp>
      <p:sp>
        <p:nvSpPr>
          <p:cNvPr id="33" name="Text 31"/>
          <p:cNvSpPr/>
          <p:nvPr/>
        </p:nvSpPr>
        <p:spPr>
          <a:xfrm>
            <a:off x="8275320" y="2304288"/>
            <a:ext cx="2980944" cy="475488"/>
          </a:xfrm>
          <a:prstGeom prst="rect">
            <a:avLst/>
          </a:prstGeom>
          <a:noFill/>
          <a:ln/>
        </p:spPr>
        <p:txBody>
          <a:bodyPr wrap="square" lIns="0" tIns="0" rIns="0" bIns="0" rtlCol="0" anchor="t"/>
          <a:lstStyle/>
          <a:p>
            <a:pPr indent="0" marL="0">
              <a:lnSpc>
                <a:spcPct val="105000"/>
              </a:lnSpc>
              <a:buNone/>
            </a:pPr>
            <a:r>
              <a:rPr lang="en-US" sz="1050" dirty="0">
                <a:solidFill>
                  <a:srgbClr val="97A4B3"/>
                </a:solidFill>
                <a:latin typeface="Calibri" pitchFamily="34" charset="0"/>
                <a:ea typeface="Calibri" pitchFamily="34" charset="-122"/>
                <a:cs typeface="Calibri" pitchFamily="34" charset="-120"/>
              </a:rPr>
              <a:t>Python · BlueZ</a:t>
            </a:r>
            <a:endParaRPr lang="en-US" sz="1050" dirty="0"/>
          </a:p>
          <a:p>
            <a:pPr indent="0" marL="0">
              <a:lnSpc>
                <a:spcPct val="105000"/>
              </a:lnSpc>
              <a:buNone/>
            </a:pPr>
            <a:r>
              <a:rPr lang="en-US" sz="1050" dirty="0">
                <a:solidFill>
                  <a:srgbClr val="97A4B3"/>
                </a:solidFill>
                <a:latin typeface="Calibri" pitchFamily="34" charset="0"/>
                <a:ea typeface="Calibri" pitchFamily="34" charset="-122"/>
                <a:cs typeface="Calibri" pitchFamily="34" charset="-120"/>
              </a:rPr>
              <a:t>D-Bus</a:t>
            </a:r>
            <a:endParaRPr lang="en-US" sz="1050" dirty="0"/>
          </a:p>
        </p:txBody>
      </p:sp>
      <p:sp>
        <p:nvSpPr>
          <p:cNvPr id="34" name="Text 32"/>
          <p:cNvSpPr/>
          <p:nvPr/>
        </p:nvSpPr>
        <p:spPr>
          <a:xfrm>
            <a:off x="8275320" y="2761488"/>
            <a:ext cx="2980944" cy="237744"/>
          </a:xfrm>
          <a:prstGeom prst="rect">
            <a:avLst/>
          </a:prstGeom>
          <a:noFill/>
          <a:ln/>
        </p:spPr>
        <p:txBody>
          <a:bodyPr wrap="square" lIns="0" tIns="0" rIns="0" bIns="0" rtlCol="0" anchor="ctr"/>
          <a:lstStyle/>
          <a:p>
            <a:pPr indent="0" marL="0">
              <a:buNone/>
            </a:pPr>
            <a:r>
              <a:rPr lang="en-US" sz="1000" i="1" dirty="0">
                <a:solidFill>
                  <a:srgbClr val="E08A2E"/>
                </a:solidFill>
                <a:latin typeface="Calibri" pitchFamily="34" charset="0"/>
                <a:ea typeface="Calibri" pitchFamily="34" charset="-122"/>
                <a:cs typeface="Calibri" pitchFamily="34" charset="-120"/>
              </a:rPr>
              <a:t>BLE peripheral</a:t>
            </a:r>
            <a:endParaRPr lang="en-US" sz="1000" dirty="0"/>
          </a:p>
        </p:txBody>
      </p:sp>
      <p:sp>
        <p:nvSpPr>
          <p:cNvPr id="35" name="Shape 33"/>
          <p:cNvSpPr/>
          <p:nvPr/>
        </p:nvSpPr>
        <p:spPr>
          <a:xfrm>
            <a:off x="8019288" y="3264408"/>
            <a:ext cx="146304" cy="146304"/>
          </a:xfrm>
          <a:prstGeom prst="ellipse">
            <a:avLst/>
          </a:prstGeom>
          <a:solidFill>
            <a:srgbClr val="2E9E8F"/>
          </a:solidFill>
          <a:ln/>
        </p:spPr>
      </p:sp>
      <p:sp>
        <p:nvSpPr>
          <p:cNvPr id="36" name="Text 34"/>
          <p:cNvSpPr/>
          <p:nvPr/>
        </p:nvSpPr>
        <p:spPr>
          <a:xfrm>
            <a:off x="8275320" y="3182112"/>
            <a:ext cx="2980944"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iOS 17</a:t>
            </a:r>
            <a:endParaRPr lang="en-US" sz="1350" dirty="0"/>
          </a:p>
        </p:txBody>
      </p:sp>
      <p:sp>
        <p:nvSpPr>
          <p:cNvPr id="37" name="Text 35"/>
          <p:cNvSpPr/>
          <p:nvPr/>
        </p:nvSpPr>
        <p:spPr>
          <a:xfrm>
            <a:off x="8275320" y="3474720"/>
            <a:ext cx="2980944" cy="475488"/>
          </a:xfrm>
          <a:prstGeom prst="rect">
            <a:avLst/>
          </a:prstGeom>
          <a:noFill/>
          <a:ln/>
        </p:spPr>
        <p:txBody>
          <a:bodyPr wrap="square" lIns="0" tIns="0" rIns="0" bIns="0" rtlCol="0" anchor="t"/>
          <a:lstStyle/>
          <a:p>
            <a:pPr indent="0" marL="0">
              <a:lnSpc>
                <a:spcPct val="105000"/>
              </a:lnSpc>
              <a:buNone/>
            </a:pPr>
            <a:r>
              <a:rPr lang="en-US" sz="1050" dirty="0">
                <a:solidFill>
                  <a:srgbClr val="97A4B3"/>
                </a:solidFill>
                <a:latin typeface="Calibri" pitchFamily="34" charset="0"/>
                <a:ea typeface="Calibri" pitchFamily="34" charset="-122"/>
                <a:cs typeface="Calibri" pitchFamily="34" charset="-120"/>
              </a:rPr>
              <a:t>Swift · SwiftUI</a:t>
            </a:r>
            <a:endParaRPr lang="en-US" sz="1050" dirty="0"/>
          </a:p>
          <a:p>
            <a:pPr indent="0" marL="0">
              <a:lnSpc>
                <a:spcPct val="105000"/>
              </a:lnSpc>
              <a:buNone/>
            </a:pPr>
            <a:r>
              <a:rPr lang="en-US" sz="1050" dirty="0">
                <a:solidFill>
                  <a:srgbClr val="97A4B3"/>
                </a:solidFill>
                <a:latin typeface="Calibri" pitchFamily="34" charset="0"/>
                <a:ea typeface="Calibri" pitchFamily="34" charset="-122"/>
                <a:cs typeface="Calibri" pitchFamily="34" charset="-120"/>
              </a:rPr>
              <a:t>CoreBluetooth</a:t>
            </a:r>
            <a:endParaRPr lang="en-US" sz="1050" dirty="0"/>
          </a:p>
        </p:txBody>
      </p:sp>
      <p:sp>
        <p:nvSpPr>
          <p:cNvPr id="38" name="Text 36"/>
          <p:cNvSpPr/>
          <p:nvPr/>
        </p:nvSpPr>
        <p:spPr>
          <a:xfrm>
            <a:off x="8275320" y="3931920"/>
            <a:ext cx="2980944" cy="237744"/>
          </a:xfrm>
          <a:prstGeom prst="rect">
            <a:avLst/>
          </a:prstGeom>
          <a:noFill/>
          <a:ln/>
        </p:spPr>
        <p:txBody>
          <a:bodyPr wrap="square" lIns="0" tIns="0" rIns="0" bIns="0" rtlCol="0" anchor="ctr"/>
          <a:lstStyle/>
          <a:p>
            <a:pPr indent="0" marL="0">
              <a:buNone/>
            </a:pPr>
            <a:r>
              <a:rPr lang="en-US" sz="1000" i="1" dirty="0">
                <a:solidFill>
                  <a:srgbClr val="2E9E8F"/>
                </a:solidFill>
                <a:latin typeface="Calibri" pitchFamily="34" charset="0"/>
                <a:ea typeface="Calibri" pitchFamily="34" charset="-122"/>
                <a:cs typeface="Calibri" pitchFamily="34" charset="-120"/>
              </a:rPr>
              <a:t>BLE central</a:t>
            </a:r>
            <a:endParaRPr lang="en-US" sz="1000" dirty="0"/>
          </a:p>
        </p:txBody>
      </p:sp>
      <p:sp>
        <p:nvSpPr>
          <p:cNvPr id="39" name="Shape 37"/>
          <p:cNvSpPr/>
          <p:nvPr/>
        </p:nvSpPr>
        <p:spPr>
          <a:xfrm>
            <a:off x="8019288" y="4434840"/>
            <a:ext cx="146304" cy="146304"/>
          </a:xfrm>
          <a:prstGeom prst="ellipse">
            <a:avLst/>
          </a:prstGeom>
          <a:solidFill>
            <a:srgbClr val="2E9E8F"/>
          </a:solidFill>
          <a:ln/>
        </p:spPr>
      </p:sp>
      <p:sp>
        <p:nvSpPr>
          <p:cNvPr id="40" name="Text 38"/>
          <p:cNvSpPr/>
          <p:nvPr/>
        </p:nvSpPr>
        <p:spPr>
          <a:xfrm>
            <a:off x="8275320" y="4352544"/>
            <a:ext cx="2980944"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Android 26+</a:t>
            </a:r>
            <a:endParaRPr lang="en-US" sz="1350" dirty="0"/>
          </a:p>
        </p:txBody>
      </p:sp>
      <p:sp>
        <p:nvSpPr>
          <p:cNvPr id="41" name="Text 39"/>
          <p:cNvSpPr/>
          <p:nvPr/>
        </p:nvSpPr>
        <p:spPr>
          <a:xfrm>
            <a:off x="8275320" y="4645152"/>
            <a:ext cx="2980944" cy="475488"/>
          </a:xfrm>
          <a:prstGeom prst="rect">
            <a:avLst/>
          </a:prstGeom>
          <a:noFill/>
          <a:ln/>
        </p:spPr>
        <p:txBody>
          <a:bodyPr wrap="square" lIns="0" tIns="0" rIns="0" bIns="0" rtlCol="0" anchor="t"/>
          <a:lstStyle/>
          <a:p>
            <a:pPr indent="0" marL="0">
              <a:lnSpc>
                <a:spcPct val="105000"/>
              </a:lnSpc>
              <a:buNone/>
            </a:pPr>
            <a:r>
              <a:rPr lang="en-US" sz="1050" dirty="0">
                <a:solidFill>
                  <a:srgbClr val="97A4B3"/>
                </a:solidFill>
                <a:latin typeface="Calibri" pitchFamily="34" charset="0"/>
                <a:ea typeface="Calibri" pitchFamily="34" charset="-122"/>
                <a:cs typeface="Calibri" pitchFamily="34" charset="-120"/>
              </a:rPr>
              <a:t>Kotlin · Compose</a:t>
            </a:r>
            <a:endParaRPr lang="en-US" sz="1050" dirty="0"/>
          </a:p>
          <a:p>
            <a:pPr indent="0" marL="0">
              <a:lnSpc>
                <a:spcPct val="105000"/>
              </a:lnSpc>
              <a:buNone/>
            </a:pPr>
            <a:r>
              <a:rPr lang="en-US" sz="1050" dirty="0">
                <a:solidFill>
                  <a:srgbClr val="97A4B3"/>
                </a:solidFill>
                <a:latin typeface="Calibri" pitchFamily="34" charset="0"/>
                <a:ea typeface="Calibri" pitchFamily="34" charset="-122"/>
                <a:cs typeface="Calibri" pitchFamily="34" charset="-120"/>
              </a:rPr>
              <a:t>BluetoothGatt</a:t>
            </a:r>
            <a:endParaRPr lang="en-US" sz="1050" dirty="0"/>
          </a:p>
        </p:txBody>
      </p:sp>
      <p:sp>
        <p:nvSpPr>
          <p:cNvPr id="42" name="Text 40"/>
          <p:cNvSpPr/>
          <p:nvPr/>
        </p:nvSpPr>
        <p:spPr>
          <a:xfrm>
            <a:off x="8275320" y="5102352"/>
            <a:ext cx="2980944" cy="237744"/>
          </a:xfrm>
          <a:prstGeom prst="rect">
            <a:avLst/>
          </a:prstGeom>
          <a:noFill/>
          <a:ln/>
        </p:spPr>
        <p:txBody>
          <a:bodyPr wrap="square" lIns="0" tIns="0" rIns="0" bIns="0" rtlCol="0" anchor="ctr"/>
          <a:lstStyle/>
          <a:p>
            <a:pPr indent="0" marL="0">
              <a:buNone/>
            </a:pPr>
            <a:r>
              <a:rPr lang="en-US" sz="1000" i="1" dirty="0">
                <a:solidFill>
                  <a:srgbClr val="2E9E8F"/>
                </a:solidFill>
                <a:latin typeface="Calibri" pitchFamily="34" charset="0"/>
                <a:ea typeface="Calibri" pitchFamily="34" charset="-122"/>
                <a:cs typeface="Calibri" pitchFamily="34" charset="-120"/>
              </a:rPr>
              <a:t>BLE central</a:t>
            </a:r>
            <a:endParaRPr lang="en-US" sz="1000" dirty="0"/>
          </a:p>
        </p:txBody>
      </p:sp>
      <p:sp>
        <p:nvSpPr>
          <p:cNvPr id="43" name="Text 41"/>
          <p:cNvSpPr/>
          <p:nvPr/>
        </p:nvSpPr>
        <p:spPr>
          <a:xfrm>
            <a:off x="640080" y="5961888"/>
            <a:ext cx="10908792" cy="365760"/>
          </a:xfrm>
          <a:prstGeom prst="rect">
            <a:avLst/>
          </a:prstGeom>
          <a:noFill/>
          <a:ln/>
        </p:spPr>
        <p:txBody>
          <a:bodyPr wrap="square" lIns="0" tIns="0" rIns="0" bIns="0" rtlCol="0" anchor="ctr"/>
          <a:lstStyle/>
          <a:p>
            <a:pPr indent="0" marL="0">
              <a:buNone/>
            </a:pPr>
            <a:r>
              <a:rPr lang="en-US" sz="1250" i="1" dirty="0">
                <a:solidFill>
                  <a:srgbClr val="6B7683"/>
                </a:solidFill>
                <a:latin typeface="Calibri" pitchFamily="34" charset="0"/>
                <a:ea typeface="Calibri" pitchFamily="34" charset="-122"/>
                <a:cs typeface="Calibri" pitchFamily="34" charset="-120"/>
              </a:rPr>
              <a:t>Identical UUIDs, identical JSON, identical HMAC — verified by unit tests, not by inspection.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ARCHITECTURE  ·  1 OF 2</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System view</a:t>
            </a:r>
            <a:endParaRPr lang="en-US" sz="3100" dirty="0"/>
          </a:p>
        </p:txBody>
      </p:sp>
      <p:sp>
        <p:nvSpPr>
          <p:cNvPr id="4" name="Shape 2"/>
          <p:cNvSpPr/>
          <p:nvPr/>
        </p:nvSpPr>
        <p:spPr>
          <a:xfrm>
            <a:off x="640080" y="1847088"/>
            <a:ext cx="2395728" cy="932688"/>
          </a:xfrm>
          <a:prstGeom prst="roundRect">
            <a:avLst>
              <a:gd name="adj" fmla="val 6863"/>
            </a:avLst>
          </a:prstGeom>
          <a:solidFill>
            <a:srgbClr val="F1F4F7"/>
          </a:solidFill>
          <a:ln w="12700">
            <a:solidFill>
              <a:srgbClr val="E4EAF0"/>
            </a:solidFill>
            <a:prstDash val="solid"/>
          </a:ln>
        </p:spPr>
      </p:sp>
      <p:sp>
        <p:nvSpPr>
          <p:cNvPr id="5" name="Text 3"/>
          <p:cNvSpPr/>
          <p:nvPr/>
        </p:nvSpPr>
        <p:spPr>
          <a:xfrm>
            <a:off x="841248" y="2002536"/>
            <a:ext cx="2011680" cy="292608"/>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iPhone</a:t>
            </a:r>
            <a:endParaRPr lang="en-US" sz="1350" dirty="0"/>
          </a:p>
        </p:txBody>
      </p:sp>
      <p:sp>
        <p:nvSpPr>
          <p:cNvPr id="6" name="Text 4"/>
          <p:cNvSpPr/>
          <p:nvPr/>
        </p:nvSpPr>
        <p:spPr>
          <a:xfrm>
            <a:off x="841248" y="2304288"/>
            <a:ext cx="2011680" cy="310896"/>
          </a:xfrm>
          <a:prstGeom prst="rect">
            <a:avLst/>
          </a:prstGeom>
          <a:noFill/>
          <a:ln/>
        </p:spPr>
        <p:txBody>
          <a:bodyPr wrap="square" lIns="0" tIns="0" rIns="0" bIns="0" rtlCol="0" anchor="ctr"/>
          <a:lstStyle/>
          <a:p>
            <a:pPr indent="0" marL="0">
              <a:buNone/>
            </a:pPr>
            <a:r>
              <a:rPr lang="en-US" sz="1050" dirty="0">
                <a:solidFill>
                  <a:srgbClr val="6B7683"/>
                </a:solidFill>
                <a:latin typeface="Calibri" pitchFamily="34" charset="0"/>
                <a:ea typeface="Calibri" pitchFamily="34" charset="-122"/>
                <a:cs typeface="Calibri" pitchFamily="34" charset="-120"/>
              </a:rPr>
              <a:t>CoreBluetooth central</a:t>
            </a:r>
            <a:endParaRPr lang="en-US" sz="1050" dirty="0"/>
          </a:p>
        </p:txBody>
      </p:sp>
      <p:sp>
        <p:nvSpPr>
          <p:cNvPr id="7" name="Shape 5"/>
          <p:cNvSpPr/>
          <p:nvPr/>
        </p:nvSpPr>
        <p:spPr>
          <a:xfrm>
            <a:off x="640080" y="3127248"/>
            <a:ext cx="2395728" cy="932688"/>
          </a:xfrm>
          <a:prstGeom prst="roundRect">
            <a:avLst>
              <a:gd name="adj" fmla="val 6863"/>
            </a:avLst>
          </a:prstGeom>
          <a:solidFill>
            <a:srgbClr val="F1F4F7"/>
          </a:solidFill>
          <a:ln w="12700">
            <a:solidFill>
              <a:srgbClr val="E4EAF0"/>
            </a:solidFill>
            <a:prstDash val="solid"/>
          </a:ln>
        </p:spPr>
      </p:sp>
      <p:sp>
        <p:nvSpPr>
          <p:cNvPr id="8" name="Text 6"/>
          <p:cNvSpPr/>
          <p:nvPr/>
        </p:nvSpPr>
        <p:spPr>
          <a:xfrm>
            <a:off x="841248" y="3282696"/>
            <a:ext cx="2011680" cy="292608"/>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Android phone</a:t>
            </a:r>
            <a:endParaRPr lang="en-US" sz="1350" dirty="0"/>
          </a:p>
        </p:txBody>
      </p:sp>
      <p:sp>
        <p:nvSpPr>
          <p:cNvPr id="9" name="Text 7"/>
          <p:cNvSpPr/>
          <p:nvPr/>
        </p:nvSpPr>
        <p:spPr>
          <a:xfrm>
            <a:off x="841248" y="3584448"/>
            <a:ext cx="2011680" cy="310896"/>
          </a:xfrm>
          <a:prstGeom prst="rect">
            <a:avLst/>
          </a:prstGeom>
          <a:noFill/>
          <a:ln/>
        </p:spPr>
        <p:txBody>
          <a:bodyPr wrap="square" lIns="0" tIns="0" rIns="0" bIns="0" rtlCol="0" anchor="ctr"/>
          <a:lstStyle/>
          <a:p>
            <a:pPr indent="0" marL="0">
              <a:buNone/>
            </a:pPr>
            <a:r>
              <a:rPr lang="en-US" sz="1050" dirty="0">
                <a:solidFill>
                  <a:srgbClr val="6B7683"/>
                </a:solidFill>
                <a:latin typeface="Calibri" pitchFamily="34" charset="0"/>
                <a:ea typeface="Calibri" pitchFamily="34" charset="-122"/>
                <a:cs typeface="Calibri" pitchFamily="34" charset="-120"/>
              </a:rPr>
              <a:t>BluetoothGatt central</a:t>
            </a:r>
            <a:endParaRPr lang="en-US" sz="1050" dirty="0"/>
          </a:p>
        </p:txBody>
      </p:sp>
      <p:sp>
        <p:nvSpPr>
          <p:cNvPr id="10" name="Shape 8"/>
          <p:cNvSpPr/>
          <p:nvPr/>
        </p:nvSpPr>
        <p:spPr>
          <a:xfrm>
            <a:off x="3035808" y="2313432"/>
            <a:ext cx="841248" cy="0"/>
          </a:xfrm>
          <a:prstGeom prst="line">
            <a:avLst/>
          </a:prstGeom>
          <a:noFill/>
          <a:ln w="25400">
            <a:solidFill>
              <a:srgbClr val="2E9E8F"/>
            </a:solidFill>
            <a:prstDash val="solid"/>
            <a:headEnd type="triangle"/>
            <a:tailEnd type="triangle"/>
          </a:ln>
        </p:spPr>
      </p:sp>
      <p:sp>
        <p:nvSpPr>
          <p:cNvPr id="11" name="Shape 9"/>
          <p:cNvSpPr/>
          <p:nvPr/>
        </p:nvSpPr>
        <p:spPr>
          <a:xfrm>
            <a:off x="3035808" y="3593592"/>
            <a:ext cx="841248" cy="0"/>
          </a:xfrm>
          <a:prstGeom prst="line">
            <a:avLst/>
          </a:prstGeom>
          <a:noFill/>
          <a:ln w="25400">
            <a:solidFill>
              <a:srgbClr val="2E9E8F"/>
            </a:solidFill>
            <a:prstDash val="solid"/>
            <a:headEnd type="triangle"/>
            <a:tailEnd type="triangle"/>
          </a:ln>
        </p:spPr>
      </p:sp>
      <p:sp>
        <p:nvSpPr>
          <p:cNvPr id="12" name="Text 10"/>
          <p:cNvSpPr/>
          <p:nvPr/>
        </p:nvSpPr>
        <p:spPr>
          <a:xfrm>
            <a:off x="2962656" y="2807208"/>
            <a:ext cx="987552" cy="256032"/>
          </a:xfrm>
          <a:prstGeom prst="rect">
            <a:avLst/>
          </a:prstGeom>
          <a:noFill/>
          <a:ln/>
        </p:spPr>
        <p:txBody>
          <a:bodyPr wrap="square" lIns="0" tIns="0" rIns="0" bIns="0" rtlCol="0" anchor="ctr"/>
          <a:lstStyle/>
          <a:p>
            <a:pPr algn="ctr" indent="0" marL="0">
              <a:buNone/>
            </a:pPr>
            <a:r>
              <a:rPr lang="en-US" sz="1000" b="1" dirty="0">
                <a:solidFill>
                  <a:srgbClr val="2E9E8F"/>
                </a:solidFill>
                <a:latin typeface="Calibri" pitchFamily="34" charset="0"/>
                <a:ea typeface="Calibri" pitchFamily="34" charset="-122"/>
                <a:cs typeface="Calibri" pitchFamily="34" charset="-120"/>
              </a:rPr>
              <a:t>BLE GATT</a:t>
            </a:r>
            <a:endParaRPr lang="en-US" sz="1000" dirty="0"/>
          </a:p>
        </p:txBody>
      </p:sp>
      <p:sp>
        <p:nvSpPr>
          <p:cNvPr id="13" name="Shape 11"/>
          <p:cNvSpPr/>
          <p:nvPr/>
        </p:nvSpPr>
        <p:spPr>
          <a:xfrm>
            <a:off x="3877056" y="1481328"/>
            <a:ext cx="3749040" cy="3310128"/>
          </a:xfrm>
          <a:prstGeom prst="roundRect">
            <a:avLst>
              <a:gd name="adj" fmla="val 1934"/>
            </a:avLst>
          </a:prstGeom>
          <a:solidFill>
            <a:srgbClr val="10141C"/>
          </a:solidFill>
          <a:ln/>
        </p:spPr>
      </p:sp>
      <p:sp>
        <p:nvSpPr>
          <p:cNvPr id="14" name="Text 12"/>
          <p:cNvSpPr/>
          <p:nvPr/>
        </p:nvSpPr>
        <p:spPr>
          <a:xfrm>
            <a:off x="4114800" y="1700784"/>
            <a:ext cx="3273552"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Raspberry Pi 3B+</a:t>
            </a:r>
            <a:endParaRPr lang="en-US" sz="1700" dirty="0"/>
          </a:p>
        </p:txBody>
      </p:sp>
      <p:sp>
        <p:nvSpPr>
          <p:cNvPr id="15" name="Text 13"/>
          <p:cNvSpPr/>
          <p:nvPr/>
        </p:nvSpPr>
        <p:spPr>
          <a:xfrm>
            <a:off x="4114800" y="2011680"/>
            <a:ext cx="3273552" cy="274320"/>
          </a:xfrm>
          <a:prstGeom prst="rect">
            <a:avLst/>
          </a:prstGeom>
          <a:noFill/>
          <a:ln/>
        </p:spPr>
        <p:txBody>
          <a:bodyPr wrap="square" lIns="0" tIns="0" rIns="0" bIns="0" rtlCol="0" anchor="ctr"/>
          <a:lstStyle/>
          <a:p>
            <a:pPr indent="0" marL="0">
              <a:buNone/>
            </a:pPr>
            <a:r>
              <a:rPr lang="en-US" sz="1100" dirty="0">
                <a:solidFill>
                  <a:srgbClr val="97A4B3"/>
                </a:solidFill>
                <a:latin typeface="Calibri" pitchFamily="34" charset="0"/>
                <a:ea typeface="Calibri" pitchFamily="34" charset="-122"/>
                <a:cs typeface="Calibri" pitchFamily="34" charset="-120"/>
              </a:rPr>
              <a:t>BLE peripheral  ·  BlueZ</a:t>
            </a:r>
            <a:endParaRPr lang="en-US" sz="1100" dirty="0"/>
          </a:p>
        </p:txBody>
      </p:sp>
      <p:sp>
        <p:nvSpPr>
          <p:cNvPr id="16" name="Shape 14"/>
          <p:cNvSpPr/>
          <p:nvPr/>
        </p:nvSpPr>
        <p:spPr>
          <a:xfrm>
            <a:off x="4114800" y="2432304"/>
            <a:ext cx="3273552" cy="932688"/>
          </a:xfrm>
          <a:prstGeom prst="roundRect">
            <a:avLst>
              <a:gd name="adj" fmla="val 6863"/>
            </a:avLst>
          </a:prstGeom>
          <a:solidFill>
            <a:srgbClr val="232E3C"/>
          </a:solidFill>
          <a:ln/>
        </p:spPr>
      </p:sp>
      <p:sp>
        <p:nvSpPr>
          <p:cNvPr id="17" name="Text 15"/>
          <p:cNvSpPr/>
          <p:nvPr/>
        </p:nvSpPr>
        <p:spPr>
          <a:xfrm>
            <a:off x="4315968" y="2542032"/>
            <a:ext cx="2871216" cy="274320"/>
          </a:xfrm>
          <a:prstGeom prst="rect">
            <a:avLst/>
          </a:prstGeom>
          <a:noFill/>
          <a:ln/>
        </p:spPr>
        <p:txBody>
          <a:bodyPr wrap="square" lIns="0" tIns="0" rIns="0" bIns="0" rtlCol="0" anchor="ctr"/>
          <a:lstStyle/>
          <a:p>
            <a:pPr indent="0" marL="0">
              <a:buNone/>
            </a:pPr>
            <a:r>
              <a:rPr lang="en-US" sz="1250" b="1" dirty="0">
                <a:solidFill>
                  <a:srgbClr val="E08A2E"/>
                </a:solidFill>
                <a:latin typeface="Calibri" pitchFamily="34" charset="0"/>
                <a:ea typeface="Calibri" pitchFamily="34" charset="-122"/>
                <a:cs typeface="Calibri" pitchFamily="34" charset="-120"/>
              </a:rPr>
              <a:t>1 GATT service</a:t>
            </a:r>
            <a:endParaRPr lang="en-US" sz="1250" dirty="0"/>
          </a:p>
        </p:txBody>
      </p:sp>
      <p:sp>
        <p:nvSpPr>
          <p:cNvPr id="18" name="Text 16"/>
          <p:cNvSpPr/>
          <p:nvPr/>
        </p:nvSpPr>
        <p:spPr>
          <a:xfrm>
            <a:off x="4315968" y="2798064"/>
            <a:ext cx="2871216" cy="475488"/>
          </a:xfrm>
          <a:prstGeom prst="rect">
            <a:avLst/>
          </a:prstGeom>
          <a:noFill/>
          <a:ln/>
        </p:spPr>
        <p:txBody>
          <a:bodyPr wrap="square" lIns="0" tIns="0" rIns="0" bIns="0" rtlCol="0" anchor="t"/>
          <a:lstStyle/>
          <a:p>
            <a:pPr indent="0" marL="0">
              <a:lnSpc>
                <a:spcPct val="105000"/>
              </a:lnSpc>
              <a:buNone/>
            </a:pPr>
            <a:r>
              <a:rPr lang="en-US" sz="1050" dirty="0">
                <a:solidFill>
                  <a:srgbClr val="97A4B3"/>
                </a:solidFill>
                <a:latin typeface="Calibri" pitchFamily="34" charset="0"/>
                <a:ea typeface="Calibri" pitchFamily="34" charset="-122"/>
                <a:cs typeface="Calibri" pitchFamily="34" charset="-120"/>
              </a:rPr>
              <a:t>7 characteristics — read, write-with-response, notify</a:t>
            </a:r>
            <a:endParaRPr lang="en-US" sz="1050" dirty="0"/>
          </a:p>
        </p:txBody>
      </p:sp>
      <p:sp>
        <p:nvSpPr>
          <p:cNvPr id="19" name="Text 17"/>
          <p:cNvSpPr/>
          <p:nvPr/>
        </p:nvSpPr>
        <p:spPr>
          <a:xfrm>
            <a:off x="4114800" y="3493008"/>
            <a:ext cx="3273552" cy="1005840"/>
          </a:xfrm>
          <a:prstGeom prst="rect">
            <a:avLst/>
          </a:prstGeom>
          <a:noFill/>
          <a:ln/>
        </p:spPr>
        <p:txBody>
          <a:bodyPr wrap="square" lIns="0" tIns="0" rIns="0" bIns="0" rtlCol="0" anchor="t"/>
          <a:lstStyle/>
          <a:p>
            <a:pPr indent="0" marL="0">
              <a:lnSpc>
                <a:spcPct val="108000"/>
              </a:lnSpc>
              <a:buNone/>
            </a:pPr>
            <a:r>
              <a:rPr lang="en-US" sz="950" i="1" dirty="0">
                <a:solidFill>
                  <a:srgbClr val="97A4B3"/>
                </a:solidFill>
                <a:latin typeface="Calibri" pitchFamily="34" charset="0"/>
                <a:ea typeface="Calibri" pitchFamily="34" charset="-122"/>
                <a:cs typeface="Calibri" pitchFamily="34" charset="-120"/>
              </a:rPr>
              <a:t>Single GLib event loop — button interrupts and the actuator timer</a:t>
            </a:r>
            <a:endParaRPr lang="en-US" sz="950" dirty="0"/>
          </a:p>
          <a:p>
            <a:pPr indent="0" marL="0">
              <a:lnSpc>
                <a:spcPct val="108000"/>
              </a:lnSpc>
              <a:buNone/>
            </a:pPr>
            <a:r>
              <a:rPr lang="en-US" sz="950" i="1" dirty="0">
                <a:solidFill>
                  <a:srgbClr val="97A4B3"/>
                </a:solidFill>
                <a:latin typeface="Calibri" pitchFamily="34" charset="0"/>
                <a:ea typeface="Calibri" pitchFamily="34" charset="-122"/>
                <a:cs typeface="Calibri" pitchFamily="34" charset="-120"/>
              </a:rPr>
              <a:t>are marshalled back onto it, so service state is never touched</a:t>
            </a:r>
            <a:endParaRPr lang="en-US" sz="950" dirty="0"/>
          </a:p>
          <a:p>
            <a:pPr indent="0" marL="0">
              <a:lnSpc>
                <a:spcPct val="108000"/>
              </a:lnSpc>
              <a:buNone/>
            </a:pPr>
            <a:r>
              <a:rPr lang="en-US" sz="950" i="1" dirty="0">
                <a:solidFill>
                  <a:srgbClr val="97A4B3"/>
                </a:solidFill>
                <a:latin typeface="Calibri" pitchFamily="34" charset="0"/>
                <a:ea typeface="Calibri" pitchFamily="34" charset="-122"/>
                <a:cs typeface="Calibri" pitchFamily="34" charset="-120"/>
              </a:rPr>
              <a:t>by two threads at once.</a:t>
            </a:r>
            <a:endParaRPr lang="en-US" sz="950" dirty="0"/>
          </a:p>
        </p:txBody>
      </p:sp>
      <p:sp>
        <p:nvSpPr>
          <p:cNvPr id="20" name="Shape 18"/>
          <p:cNvSpPr/>
          <p:nvPr/>
        </p:nvSpPr>
        <p:spPr>
          <a:xfrm>
            <a:off x="8467344" y="1481328"/>
            <a:ext cx="3081528" cy="713232"/>
          </a:xfrm>
          <a:prstGeom prst="roundRect">
            <a:avLst>
              <a:gd name="adj" fmla="val 8974"/>
            </a:avLst>
          </a:prstGeom>
          <a:solidFill>
            <a:srgbClr val="F1F4F7"/>
          </a:solidFill>
          <a:ln w="12700">
            <a:solidFill>
              <a:srgbClr val="E4EAF0"/>
            </a:solidFill>
            <a:prstDash val="solid"/>
          </a:ln>
        </p:spPr>
      </p:sp>
      <p:sp>
        <p:nvSpPr>
          <p:cNvPr id="21" name="Shape 19"/>
          <p:cNvSpPr/>
          <p:nvPr/>
        </p:nvSpPr>
        <p:spPr>
          <a:xfrm>
            <a:off x="7699248" y="1837944"/>
            <a:ext cx="768096" cy="0"/>
          </a:xfrm>
          <a:prstGeom prst="line">
            <a:avLst/>
          </a:prstGeom>
          <a:noFill/>
          <a:ln w="19050">
            <a:solidFill>
              <a:srgbClr val="6B7683"/>
            </a:solidFill>
            <a:prstDash val="solid"/>
            <a:tailEnd type="triangle"/>
          </a:ln>
        </p:spPr>
      </p:sp>
      <p:sp>
        <p:nvSpPr>
          <p:cNvPr id="22" name="Shape 20"/>
          <p:cNvSpPr/>
          <p:nvPr/>
        </p:nvSpPr>
        <p:spPr>
          <a:xfrm>
            <a:off x="8650224" y="1764792"/>
            <a:ext cx="137160" cy="137160"/>
          </a:xfrm>
          <a:prstGeom prst="ellipse">
            <a:avLst/>
          </a:prstGeom>
          <a:solidFill>
            <a:srgbClr val="E08A2E"/>
          </a:solidFill>
          <a:ln/>
        </p:spPr>
      </p:sp>
      <p:sp>
        <p:nvSpPr>
          <p:cNvPr id="23" name="Text 21"/>
          <p:cNvSpPr/>
          <p:nvPr/>
        </p:nvSpPr>
        <p:spPr>
          <a:xfrm>
            <a:off x="8887968" y="1572768"/>
            <a:ext cx="2514600"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Buttons S4 / S5</a:t>
            </a:r>
            <a:endParaRPr lang="en-US" sz="1200" dirty="0"/>
          </a:p>
        </p:txBody>
      </p:sp>
      <p:sp>
        <p:nvSpPr>
          <p:cNvPr id="24" name="Text 22"/>
          <p:cNvSpPr/>
          <p:nvPr/>
        </p:nvSpPr>
        <p:spPr>
          <a:xfrm>
            <a:off x="8887968" y="1828800"/>
            <a:ext cx="2514600" cy="274320"/>
          </a:xfrm>
          <a:prstGeom prst="rect">
            <a:avLst/>
          </a:prstGeom>
          <a:noFill/>
          <a:ln/>
        </p:spPr>
        <p:txBody>
          <a:bodyPr wrap="square" lIns="0" tIns="0" rIns="0" bIns="0" rtlCol="0" anchor="ctr"/>
          <a:lstStyle/>
          <a:p>
            <a:pPr indent="0" marL="0">
              <a:buNone/>
            </a:pPr>
            <a:r>
              <a:rPr lang="en-US" sz="950" dirty="0">
                <a:solidFill>
                  <a:srgbClr val="6B7683"/>
                </a:solidFill>
                <a:latin typeface="Calibri" pitchFamily="34" charset="0"/>
                <a:ea typeface="Calibri" pitchFamily="34" charset="-122"/>
                <a:cs typeface="Calibri" pitchFamily="34" charset="-120"/>
              </a:rPr>
              <a:t>approve  ·  deny</a:t>
            </a:r>
            <a:endParaRPr lang="en-US" sz="950" dirty="0"/>
          </a:p>
        </p:txBody>
      </p:sp>
      <p:sp>
        <p:nvSpPr>
          <p:cNvPr id="25" name="Shape 23"/>
          <p:cNvSpPr/>
          <p:nvPr/>
        </p:nvSpPr>
        <p:spPr>
          <a:xfrm>
            <a:off x="8467344" y="2340864"/>
            <a:ext cx="3081528" cy="713232"/>
          </a:xfrm>
          <a:prstGeom prst="roundRect">
            <a:avLst>
              <a:gd name="adj" fmla="val 8974"/>
            </a:avLst>
          </a:prstGeom>
          <a:solidFill>
            <a:srgbClr val="F1F4F7"/>
          </a:solidFill>
          <a:ln w="12700">
            <a:solidFill>
              <a:srgbClr val="E4EAF0"/>
            </a:solidFill>
            <a:prstDash val="solid"/>
          </a:ln>
        </p:spPr>
      </p:sp>
      <p:sp>
        <p:nvSpPr>
          <p:cNvPr id="26" name="Shape 24"/>
          <p:cNvSpPr/>
          <p:nvPr/>
        </p:nvSpPr>
        <p:spPr>
          <a:xfrm>
            <a:off x="7699248" y="2697480"/>
            <a:ext cx="768096" cy="0"/>
          </a:xfrm>
          <a:prstGeom prst="line">
            <a:avLst/>
          </a:prstGeom>
          <a:noFill/>
          <a:ln w="19050">
            <a:solidFill>
              <a:srgbClr val="6B7683"/>
            </a:solidFill>
            <a:prstDash val="solid"/>
            <a:tailEnd type="triangle"/>
          </a:ln>
        </p:spPr>
      </p:sp>
      <p:sp>
        <p:nvSpPr>
          <p:cNvPr id="27" name="Shape 25"/>
          <p:cNvSpPr/>
          <p:nvPr/>
        </p:nvSpPr>
        <p:spPr>
          <a:xfrm>
            <a:off x="8650224" y="2624328"/>
            <a:ext cx="137160" cy="137160"/>
          </a:xfrm>
          <a:prstGeom prst="ellipse">
            <a:avLst/>
          </a:prstGeom>
          <a:solidFill>
            <a:srgbClr val="E08A2E"/>
          </a:solidFill>
          <a:ln/>
        </p:spPr>
      </p:sp>
      <p:sp>
        <p:nvSpPr>
          <p:cNvPr id="28" name="Text 26"/>
          <p:cNvSpPr/>
          <p:nvPr/>
        </p:nvSpPr>
        <p:spPr>
          <a:xfrm>
            <a:off x="8887968" y="2432304"/>
            <a:ext cx="2514600"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Status LEDs</a:t>
            </a:r>
            <a:endParaRPr lang="en-US" sz="1200" dirty="0"/>
          </a:p>
        </p:txBody>
      </p:sp>
      <p:sp>
        <p:nvSpPr>
          <p:cNvPr id="29" name="Text 27"/>
          <p:cNvSpPr/>
          <p:nvPr/>
        </p:nvSpPr>
        <p:spPr>
          <a:xfrm>
            <a:off x="8887968" y="2688336"/>
            <a:ext cx="2514600" cy="274320"/>
          </a:xfrm>
          <a:prstGeom prst="rect">
            <a:avLst/>
          </a:prstGeom>
          <a:noFill/>
          <a:ln/>
        </p:spPr>
        <p:txBody>
          <a:bodyPr wrap="square" lIns="0" tIns="0" rIns="0" bIns="0" rtlCol="0" anchor="ctr"/>
          <a:lstStyle/>
          <a:p>
            <a:pPr indent="0" marL="0">
              <a:buNone/>
            </a:pPr>
            <a:r>
              <a:rPr lang="en-US" sz="950" dirty="0">
                <a:solidFill>
                  <a:srgbClr val="6B7683"/>
                </a:solidFill>
                <a:latin typeface="Calibri" pitchFamily="34" charset="0"/>
                <a:ea typeface="Calibri" pitchFamily="34" charset="-122"/>
                <a:cs typeface="Calibri" pitchFamily="34" charset="-120"/>
              </a:rPr>
              <a:t>waiting · approved · denied · unlocked</a:t>
            </a:r>
            <a:endParaRPr lang="en-US" sz="950" dirty="0"/>
          </a:p>
        </p:txBody>
      </p:sp>
      <p:sp>
        <p:nvSpPr>
          <p:cNvPr id="30" name="Shape 28"/>
          <p:cNvSpPr/>
          <p:nvPr/>
        </p:nvSpPr>
        <p:spPr>
          <a:xfrm>
            <a:off x="8467344" y="3200400"/>
            <a:ext cx="3081528" cy="713232"/>
          </a:xfrm>
          <a:prstGeom prst="roundRect">
            <a:avLst>
              <a:gd name="adj" fmla="val 8974"/>
            </a:avLst>
          </a:prstGeom>
          <a:solidFill>
            <a:srgbClr val="F1F4F7"/>
          </a:solidFill>
          <a:ln w="12700">
            <a:solidFill>
              <a:srgbClr val="E4EAF0"/>
            </a:solidFill>
            <a:prstDash val="solid"/>
          </a:ln>
        </p:spPr>
      </p:sp>
      <p:sp>
        <p:nvSpPr>
          <p:cNvPr id="31" name="Shape 29"/>
          <p:cNvSpPr/>
          <p:nvPr/>
        </p:nvSpPr>
        <p:spPr>
          <a:xfrm>
            <a:off x="7699248" y="3557016"/>
            <a:ext cx="768096" cy="0"/>
          </a:xfrm>
          <a:prstGeom prst="line">
            <a:avLst/>
          </a:prstGeom>
          <a:noFill/>
          <a:ln w="19050">
            <a:solidFill>
              <a:srgbClr val="6B7683"/>
            </a:solidFill>
            <a:prstDash val="solid"/>
            <a:tailEnd type="triangle"/>
          </a:ln>
        </p:spPr>
      </p:sp>
      <p:sp>
        <p:nvSpPr>
          <p:cNvPr id="32" name="Shape 30"/>
          <p:cNvSpPr/>
          <p:nvPr/>
        </p:nvSpPr>
        <p:spPr>
          <a:xfrm>
            <a:off x="8650224" y="3483864"/>
            <a:ext cx="137160" cy="137160"/>
          </a:xfrm>
          <a:prstGeom prst="ellipse">
            <a:avLst/>
          </a:prstGeom>
          <a:solidFill>
            <a:srgbClr val="E08A2E"/>
          </a:solidFill>
          <a:ln/>
        </p:spPr>
      </p:sp>
      <p:sp>
        <p:nvSpPr>
          <p:cNvPr id="33" name="Text 31"/>
          <p:cNvSpPr/>
          <p:nvPr/>
        </p:nvSpPr>
        <p:spPr>
          <a:xfrm>
            <a:off x="8887968" y="3291840"/>
            <a:ext cx="2514600"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Relay K1</a:t>
            </a:r>
            <a:endParaRPr lang="en-US" sz="1200" dirty="0"/>
          </a:p>
        </p:txBody>
      </p:sp>
      <p:sp>
        <p:nvSpPr>
          <p:cNvPr id="34" name="Text 32"/>
          <p:cNvSpPr/>
          <p:nvPr/>
        </p:nvSpPr>
        <p:spPr>
          <a:xfrm>
            <a:off x="8887968" y="3547872"/>
            <a:ext cx="2514600" cy="274320"/>
          </a:xfrm>
          <a:prstGeom prst="rect">
            <a:avLst/>
          </a:prstGeom>
          <a:noFill/>
          <a:ln/>
        </p:spPr>
        <p:txBody>
          <a:bodyPr wrap="square" lIns="0" tIns="0" rIns="0" bIns="0" rtlCol="0" anchor="ctr"/>
          <a:lstStyle/>
          <a:p>
            <a:pPr indent="0" marL="0">
              <a:buNone/>
            </a:pPr>
            <a:r>
              <a:rPr lang="en-US" sz="950" dirty="0">
                <a:solidFill>
                  <a:srgbClr val="6B7683"/>
                </a:solidFill>
                <a:latin typeface="Calibri" pitchFamily="34" charset="0"/>
                <a:ea typeface="Calibri" pitchFamily="34" charset="-122"/>
                <a:cs typeface="Calibri" pitchFamily="34" charset="-120"/>
              </a:rPr>
              <a:t>actuator, auto re-lock after 5 s</a:t>
            </a:r>
            <a:endParaRPr lang="en-US" sz="950" dirty="0"/>
          </a:p>
        </p:txBody>
      </p:sp>
      <p:sp>
        <p:nvSpPr>
          <p:cNvPr id="35" name="Shape 33"/>
          <p:cNvSpPr/>
          <p:nvPr/>
        </p:nvSpPr>
        <p:spPr>
          <a:xfrm>
            <a:off x="8467344" y="4059936"/>
            <a:ext cx="3081528" cy="713232"/>
          </a:xfrm>
          <a:prstGeom prst="roundRect">
            <a:avLst>
              <a:gd name="adj" fmla="val 8974"/>
            </a:avLst>
          </a:prstGeom>
          <a:solidFill>
            <a:srgbClr val="F1F4F7"/>
          </a:solidFill>
          <a:ln w="12700">
            <a:solidFill>
              <a:srgbClr val="E4EAF0"/>
            </a:solidFill>
            <a:prstDash val="solid"/>
          </a:ln>
        </p:spPr>
      </p:sp>
      <p:sp>
        <p:nvSpPr>
          <p:cNvPr id="36" name="Shape 34"/>
          <p:cNvSpPr/>
          <p:nvPr/>
        </p:nvSpPr>
        <p:spPr>
          <a:xfrm>
            <a:off x="7699248" y="4416552"/>
            <a:ext cx="768096" cy="0"/>
          </a:xfrm>
          <a:prstGeom prst="line">
            <a:avLst/>
          </a:prstGeom>
          <a:noFill/>
          <a:ln w="19050">
            <a:solidFill>
              <a:srgbClr val="6B7683"/>
            </a:solidFill>
            <a:prstDash val="solid"/>
            <a:tailEnd type="triangle"/>
          </a:ln>
        </p:spPr>
      </p:sp>
      <p:sp>
        <p:nvSpPr>
          <p:cNvPr id="37" name="Shape 35"/>
          <p:cNvSpPr/>
          <p:nvPr/>
        </p:nvSpPr>
        <p:spPr>
          <a:xfrm>
            <a:off x="8650224" y="4343400"/>
            <a:ext cx="137160" cy="137160"/>
          </a:xfrm>
          <a:prstGeom prst="ellipse">
            <a:avLst/>
          </a:prstGeom>
          <a:solidFill>
            <a:srgbClr val="2E9E8F"/>
          </a:solidFill>
          <a:ln/>
        </p:spPr>
      </p:sp>
      <p:sp>
        <p:nvSpPr>
          <p:cNvPr id="38" name="Text 36"/>
          <p:cNvSpPr/>
          <p:nvPr/>
        </p:nvSpPr>
        <p:spPr>
          <a:xfrm>
            <a:off x="8887968" y="4151376"/>
            <a:ext cx="2514600"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SQLite</a:t>
            </a:r>
            <a:endParaRPr lang="en-US" sz="1200" dirty="0"/>
          </a:p>
        </p:txBody>
      </p:sp>
      <p:sp>
        <p:nvSpPr>
          <p:cNvPr id="39" name="Text 37"/>
          <p:cNvSpPr/>
          <p:nvPr/>
        </p:nvSpPr>
        <p:spPr>
          <a:xfrm>
            <a:off x="8887968" y="4407408"/>
            <a:ext cx="2514600" cy="274320"/>
          </a:xfrm>
          <a:prstGeom prst="rect">
            <a:avLst/>
          </a:prstGeom>
          <a:noFill/>
          <a:ln/>
        </p:spPr>
        <p:txBody>
          <a:bodyPr wrap="square" lIns="0" tIns="0" rIns="0" bIns="0" rtlCol="0" anchor="ctr"/>
          <a:lstStyle/>
          <a:p>
            <a:pPr indent="0" marL="0">
              <a:buNone/>
            </a:pPr>
            <a:r>
              <a:rPr lang="en-US" sz="950" dirty="0">
                <a:solidFill>
                  <a:srgbClr val="6B7683"/>
                </a:solidFill>
                <a:latin typeface="Calibri" pitchFamily="34" charset="0"/>
                <a:ea typeface="Calibri" pitchFamily="34" charset="-122"/>
                <a:cs typeface="Calibri" pitchFamily="34" charset="-120"/>
              </a:rPr>
              <a:t>enrolled devices  ·  access log</a:t>
            </a:r>
            <a:endParaRPr lang="en-US" sz="950" dirty="0"/>
          </a:p>
        </p:txBody>
      </p:sp>
      <p:sp>
        <p:nvSpPr>
          <p:cNvPr id="40" name="Text 38"/>
          <p:cNvSpPr/>
          <p:nvPr/>
        </p:nvSpPr>
        <p:spPr>
          <a:xfrm>
            <a:off x="640080" y="5230368"/>
            <a:ext cx="3401568"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Custom 128-bit UUIDs</a:t>
            </a:r>
            <a:endParaRPr lang="en-US" sz="1200" dirty="0"/>
          </a:p>
        </p:txBody>
      </p:sp>
      <p:sp>
        <p:nvSpPr>
          <p:cNvPr id="41" name="Text 39"/>
          <p:cNvSpPr/>
          <p:nvPr/>
        </p:nvSpPr>
        <p:spPr>
          <a:xfrm>
            <a:off x="640080" y="5504688"/>
            <a:ext cx="3401568" cy="786384"/>
          </a:xfrm>
          <a:prstGeom prst="rect">
            <a:avLst/>
          </a:prstGeom>
          <a:noFill/>
          <a:ln/>
        </p:spPr>
        <p:txBody>
          <a:bodyPr wrap="square" lIns="0" tIns="0" rIns="0" bIns="0" rtlCol="0" anchor="t"/>
          <a:lstStyle/>
          <a:p>
            <a:pPr indent="0" marL="0">
              <a:lnSpc>
                <a:spcPct val="108000"/>
              </a:lnSpc>
              <a:buNone/>
            </a:pPr>
            <a:r>
              <a:rPr lang="en-US" sz="1000" dirty="0">
                <a:solidFill>
                  <a:srgbClr val="6B7683"/>
                </a:solidFill>
                <a:latin typeface="Calibri" pitchFamily="34" charset="0"/>
                <a:ea typeface="Calibri" pitchFamily="34" charset="-122"/>
                <a:cs typeface="Calibri" pitchFamily="34" charset="-120"/>
              </a:rPr>
              <a:t>A1B2000x-5F6D-4C3E-9A2B-7E8F0D1C2B3A — the service UUID must be in the advertisement, or the phone never sees the lock.</a:t>
            </a:r>
            <a:endParaRPr lang="en-US" sz="1000" dirty="0"/>
          </a:p>
        </p:txBody>
      </p:sp>
      <p:sp>
        <p:nvSpPr>
          <p:cNvPr id="42" name="Text 40"/>
          <p:cNvSpPr/>
          <p:nvPr/>
        </p:nvSpPr>
        <p:spPr>
          <a:xfrm>
            <a:off x="4334256" y="5230368"/>
            <a:ext cx="3401568"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Compact UTF-8 JSON</a:t>
            </a:r>
            <a:endParaRPr lang="en-US" sz="1200" dirty="0"/>
          </a:p>
        </p:txBody>
      </p:sp>
      <p:sp>
        <p:nvSpPr>
          <p:cNvPr id="43" name="Text 41"/>
          <p:cNvSpPr/>
          <p:nvPr/>
        </p:nvSpPr>
        <p:spPr>
          <a:xfrm>
            <a:off x="4334256" y="5504688"/>
            <a:ext cx="3401568" cy="786384"/>
          </a:xfrm>
          <a:prstGeom prst="rect">
            <a:avLst/>
          </a:prstGeom>
          <a:noFill/>
          <a:ln/>
        </p:spPr>
        <p:txBody>
          <a:bodyPr wrap="square" lIns="0" tIns="0" rIns="0" bIns="0" rtlCol="0" anchor="t"/>
          <a:lstStyle/>
          <a:p>
            <a:pPr indent="0" marL="0">
              <a:lnSpc>
                <a:spcPct val="108000"/>
              </a:lnSpc>
              <a:buNone/>
            </a:pPr>
            <a:r>
              <a:rPr lang="en-US" sz="1000" dirty="0">
                <a:solidFill>
                  <a:srgbClr val="6B7683"/>
                </a:solidFill>
                <a:latin typeface="Calibri" pitchFamily="34" charset="0"/>
                <a:ea typeface="Calibri" pitchFamily="34" charset="-122"/>
                <a:cs typeface="Calibri" pitchFamily="34" charset="-120"/>
              </a:rPr>
              <a:t>Binary fields in Base64. Every message carries "v":1 — a version mismatch is rejected by both ends.</a:t>
            </a:r>
            <a:endParaRPr lang="en-US" sz="1000" dirty="0"/>
          </a:p>
        </p:txBody>
      </p:sp>
      <p:sp>
        <p:nvSpPr>
          <p:cNvPr id="44" name="Text 42"/>
          <p:cNvSpPr/>
          <p:nvPr/>
        </p:nvSpPr>
        <p:spPr>
          <a:xfrm>
            <a:off x="8028432" y="5230368"/>
            <a:ext cx="3401568"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Write with response</a:t>
            </a:r>
            <a:endParaRPr lang="en-US" sz="1200" dirty="0"/>
          </a:p>
        </p:txBody>
      </p:sp>
      <p:sp>
        <p:nvSpPr>
          <p:cNvPr id="45" name="Text 43"/>
          <p:cNvSpPr/>
          <p:nvPr/>
        </p:nvSpPr>
        <p:spPr>
          <a:xfrm>
            <a:off x="8028432" y="5504688"/>
            <a:ext cx="3401568" cy="786384"/>
          </a:xfrm>
          <a:prstGeom prst="rect">
            <a:avLst/>
          </a:prstGeom>
          <a:noFill/>
          <a:ln/>
        </p:spPr>
        <p:txBody>
          <a:bodyPr wrap="square" lIns="0" tIns="0" rIns="0" bIns="0" rtlCol="0" anchor="t"/>
          <a:lstStyle/>
          <a:p>
            <a:pPr indent="0" marL="0">
              <a:lnSpc>
                <a:spcPct val="108000"/>
              </a:lnSpc>
              <a:buNone/>
            </a:pPr>
            <a:r>
              <a:rPr lang="en-US" sz="1000" dirty="0">
                <a:solidFill>
                  <a:srgbClr val="6B7683"/>
                </a:solidFill>
                <a:latin typeface="Calibri" pitchFamily="34" charset="0"/>
                <a:ea typeface="Calibri" pitchFamily="34" charset="-122"/>
                <a:cs typeface="Calibri" pitchFamily="34" charset="-120"/>
              </a:rPr>
              <a:t>On all three writable characteristics: the phone must know a message landed before it waits for the notification.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41C"/>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ARCHITECTURE  ·  2 OF 2</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The protocol</a:t>
            </a:r>
            <a:endParaRPr lang="en-US" sz="3100" dirty="0"/>
          </a:p>
        </p:txBody>
      </p:sp>
      <p:sp>
        <p:nvSpPr>
          <p:cNvPr id="4" name="Shape 2"/>
          <p:cNvSpPr/>
          <p:nvPr/>
        </p:nvSpPr>
        <p:spPr>
          <a:xfrm>
            <a:off x="640080" y="1335024"/>
            <a:ext cx="5294376" cy="4626864"/>
          </a:xfrm>
          <a:prstGeom prst="roundRect">
            <a:avLst>
              <a:gd name="adj" fmla="val 1383"/>
            </a:avLst>
          </a:prstGeom>
          <a:solidFill>
            <a:srgbClr val="1B2430"/>
          </a:solidFill>
          <a:ln/>
        </p:spPr>
      </p:sp>
      <p:sp>
        <p:nvSpPr>
          <p:cNvPr id="5" name="Text 3"/>
          <p:cNvSpPr/>
          <p:nvPr/>
        </p:nvSpPr>
        <p:spPr>
          <a:xfrm>
            <a:off x="932688" y="1517904"/>
            <a:ext cx="4709160" cy="3291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Enrollment</a:t>
            </a:r>
            <a:endParaRPr lang="en-US" sz="2000" dirty="0"/>
          </a:p>
        </p:txBody>
      </p:sp>
      <p:sp>
        <p:nvSpPr>
          <p:cNvPr id="6" name="Text 4"/>
          <p:cNvSpPr/>
          <p:nvPr/>
        </p:nvSpPr>
        <p:spPr>
          <a:xfrm>
            <a:off x="932688" y="1828800"/>
            <a:ext cx="4709160" cy="256032"/>
          </a:xfrm>
          <a:prstGeom prst="rect">
            <a:avLst/>
          </a:prstGeom>
          <a:noFill/>
          <a:ln/>
        </p:spPr>
        <p:txBody>
          <a:bodyPr wrap="square" lIns="0" tIns="0" rIns="0" bIns="0" rtlCol="0" anchor="ctr"/>
          <a:lstStyle/>
          <a:p>
            <a:pPr indent="0" marL="0">
              <a:buNone/>
            </a:pPr>
            <a:r>
              <a:rPr lang="en-US" sz="1150" i="1" dirty="0">
                <a:solidFill>
                  <a:srgbClr val="E08A2E"/>
                </a:solidFill>
                <a:latin typeface="Calibri" pitchFamily="34" charset="0"/>
                <a:ea typeface="Calibri" pitchFamily="34" charset="-122"/>
                <a:cs typeface="Calibri" pitchFamily="34" charset="-120"/>
              </a:rPr>
              <a:t>trust entering through the physical channel</a:t>
            </a:r>
            <a:endParaRPr lang="en-US" sz="1150" dirty="0"/>
          </a:p>
        </p:txBody>
      </p:sp>
      <p:sp>
        <p:nvSpPr>
          <p:cNvPr id="7" name="Shape 5"/>
          <p:cNvSpPr/>
          <p:nvPr/>
        </p:nvSpPr>
        <p:spPr>
          <a:xfrm>
            <a:off x="932688" y="2194560"/>
            <a:ext cx="4709160" cy="1572768"/>
          </a:xfrm>
          <a:prstGeom prst="roundRect">
            <a:avLst>
              <a:gd name="adj" fmla="val 4070"/>
            </a:avLst>
          </a:prstGeom>
          <a:solidFill>
            <a:srgbClr val="232E3C"/>
          </a:solidFill>
          <a:ln/>
        </p:spPr>
      </p:sp>
      <p:sp>
        <p:nvSpPr>
          <p:cNvPr id="8" name="Text 6"/>
          <p:cNvSpPr/>
          <p:nvPr/>
        </p:nvSpPr>
        <p:spPr>
          <a:xfrm>
            <a:off x="1115568" y="2340864"/>
            <a:ext cx="4343400" cy="1371600"/>
          </a:xfrm>
          <a:prstGeom prst="rect">
            <a:avLst/>
          </a:prstGeom>
          <a:noFill/>
          <a:ln/>
        </p:spPr>
        <p:txBody>
          <a:bodyPr wrap="square" lIns="0" tIns="0" rIns="0" bIns="0" rtlCol="0" anchor="t"/>
          <a:lstStyle/>
          <a:p>
            <a:pPr indent="0" marL="0">
              <a:lnSpc>
                <a:spcPct val="118000"/>
              </a:lnSpc>
              <a:buNone/>
            </a:pPr>
            <a:r>
              <a:rPr lang="en-US" sz="960" dirty="0">
                <a:solidFill>
                  <a:srgbClr val="CFE0EE"/>
                </a:solidFill>
                <a:latin typeface="Courier New" pitchFamily="34" charset="0"/>
                <a:ea typeface="Courier New" pitchFamily="34" charset="-122"/>
                <a:cs typeface="Courier New" pitchFamily="34" charset="-120"/>
              </a:rPr>
              <a:t>phone  -&gt;  Access Request</a:t>
            </a:r>
            <a:endParaRPr lang="en-US" sz="960" dirty="0"/>
          </a:p>
          <a:p>
            <a:pPr indent="0" marL="0">
              <a:lnSpc>
                <a:spcPct val="118000"/>
              </a:lnSpc>
              <a:buNone/>
            </a:pPr>
            <a:r>
              <a:rPr lang="en-US" sz="960" dirty="0">
                <a:solidFill>
                  <a:srgbClr val="CFE0EE"/>
                </a:solidFill>
                <a:latin typeface="Courier New" pitchFamily="34" charset="0"/>
                <a:ea typeface="Courier New" pitchFamily="34" charset="-122"/>
                <a:cs typeface="Courier New" pitchFamily="34" charset="-120"/>
              </a:rPr>
              <a:t>       &lt;-  state = pending</a:t>
            </a:r>
            <a:endParaRPr lang="en-US" sz="960" dirty="0"/>
          </a:p>
          <a:p>
            <a:pPr indent="0" marL="0">
              <a:lnSpc>
                <a:spcPct val="118000"/>
              </a:lnSpc>
              <a:buNone/>
            </a:pPr>
            <a:r>
              <a:rPr lang="en-US" sz="960" dirty="0">
                <a:solidFill>
                  <a:srgbClr val="CFE0EE"/>
                </a:solidFill>
                <a:latin typeface="Courier New" pitchFamily="34" charset="0"/>
                <a:ea typeface="Courier New" pitchFamily="34" charset="-122"/>
                <a:cs typeface="Courier New" pitchFamily="34" charset="-120"/>
              </a:rPr>
              <a:t> </a:t>
            </a:r>
            <a:endParaRPr lang="en-US" sz="960" dirty="0"/>
          </a:p>
          <a:p>
            <a:pPr indent="0" marL="0">
              <a:lnSpc>
                <a:spcPct val="118000"/>
              </a:lnSpc>
              <a:buNone/>
            </a:pPr>
            <a:r>
              <a:rPr lang="en-US" sz="960" dirty="0">
                <a:solidFill>
                  <a:srgbClr val="CFE0EE"/>
                </a:solidFill>
                <a:latin typeface="Courier New" pitchFamily="34" charset="0"/>
                <a:ea typeface="Courier New" pitchFamily="34" charset="-122"/>
                <a:cs typeface="Courier New" pitchFamily="34" charset="-120"/>
              </a:rPr>
              <a:t>  [ owner presses ALLOW ]</a:t>
            </a:r>
            <a:endParaRPr lang="en-US" sz="960" dirty="0"/>
          </a:p>
          <a:p>
            <a:pPr indent="0" marL="0">
              <a:lnSpc>
                <a:spcPct val="118000"/>
              </a:lnSpc>
              <a:buNone/>
            </a:pPr>
            <a:r>
              <a:rPr lang="en-US" sz="960" dirty="0">
                <a:solidFill>
                  <a:srgbClr val="CFE0EE"/>
                </a:solidFill>
                <a:latin typeface="Courier New" pitchFamily="34" charset="0"/>
                <a:ea typeface="Courier New" pitchFamily="34" charset="-122"/>
                <a:cs typeface="Courier New" pitchFamily="34" charset="-120"/>
              </a:rPr>
              <a:t>       32 random bytes (os.urandom)</a:t>
            </a:r>
            <a:endParaRPr lang="en-US" sz="960" dirty="0"/>
          </a:p>
          <a:p>
            <a:pPr indent="0" marL="0">
              <a:lnSpc>
                <a:spcPct val="118000"/>
              </a:lnSpc>
              <a:buNone/>
            </a:pPr>
            <a:r>
              <a:rPr lang="en-US" sz="960" dirty="0">
                <a:solidFill>
                  <a:srgbClr val="CFE0EE"/>
                </a:solidFill>
                <a:latin typeface="Courier New" pitchFamily="34" charset="0"/>
                <a:ea typeface="Courier New" pitchFamily="34" charset="-122"/>
                <a:cs typeface="Courier New" pitchFamily="34" charset="-120"/>
              </a:rPr>
              <a:t>       &lt;-  state = approved + secret</a:t>
            </a:r>
            <a:endParaRPr lang="en-US" sz="960" dirty="0"/>
          </a:p>
          <a:p>
            <a:pPr indent="0" marL="0">
              <a:lnSpc>
                <a:spcPct val="118000"/>
              </a:lnSpc>
              <a:buNone/>
            </a:pPr>
            <a:r>
              <a:rPr lang="en-US" sz="960" dirty="0">
                <a:solidFill>
                  <a:srgbClr val="CFE0EE"/>
                </a:solidFill>
                <a:latin typeface="Courier New" pitchFamily="34" charset="0"/>
                <a:ea typeface="Courier New" pitchFamily="34" charset="-122"/>
                <a:cs typeface="Courier New" pitchFamily="34" charset="-120"/>
              </a:rPr>
              <a:t> </a:t>
            </a:r>
            <a:endParaRPr lang="en-US" sz="960" dirty="0"/>
          </a:p>
          <a:p>
            <a:pPr indent="0" marL="0">
              <a:lnSpc>
                <a:spcPct val="118000"/>
              </a:lnSpc>
              <a:buNone/>
            </a:pPr>
            <a:r>
              <a:rPr lang="en-US" sz="960" dirty="0">
                <a:solidFill>
                  <a:srgbClr val="CFE0EE"/>
                </a:solidFill>
                <a:latin typeface="Courier New" pitchFamily="34" charset="0"/>
                <a:ea typeface="Courier New" pitchFamily="34" charset="-122"/>
                <a:cs typeface="Courier New" pitchFamily="34" charset="-120"/>
              </a:rPr>
              <a:t>stored in iOS Keychain / Android Keystore</a:t>
            </a:r>
            <a:endParaRPr lang="en-US" sz="960" dirty="0"/>
          </a:p>
        </p:txBody>
      </p:sp>
      <p:sp>
        <p:nvSpPr>
          <p:cNvPr id="9" name="Text 7"/>
          <p:cNvSpPr/>
          <p:nvPr/>
        </p:nvSpPr>
        <p:spPr>
          <a:xfrm>
            <a:off x="932688" y="3895344"/>
            <a:ext cx="4709160" cy="192024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150" dirty="0">
                <a:solidFill>
                  <a:srgbClr val="D6DEE8"/>
                </a:solidFill>
                <a:latin typeface="Calibri" pitchFamily="34" charset="0"/>
                <a:ea typeface="Calibri" pitchFamily="34" charset="-122"/>
                <a:cs typeface="Calibri" pitchFamily="34" charset="-120"/>
              </a:rPr>
              <a:t>A queue, not a single slot — two phones asking at once are served in arrival order, so the owner always knows what they are approving.</a:t>
            </a:r>
            <a:endParaRPr lang="en-US" sz="1150" dirty="0"/>
          </a:p>
          <a:p>
            <a:pPr marL="342900" indent="-342900">
              <a:lnSpc>
                <a:spcPct val="105000"/>
              </a:lnSpc>
              <a:spcAft>
                <a:spcPts val="900"/>
              </a:spcAft>
              <a:buSzPct val="100000"/>
              <a:buChar char="•"/>
            </a:pPr>
            <a:r>
              <a:rPr lang="en-US" sz="1150" dirty="0">
                <a:solidFill>
                  <a:srgbClr val="D6DEE8"/>
                </a:solidFill>
                <a:latin typeface="Calibri" pitchFamily="34" charset="0"/>
                <a:ea typeface="Calibri" pitchFamily="34" charset="-122"/>
                <a:cs typeface="Calibri" pitchFamily="34" charset="-120"/>
              </a:rPr>
              <a:t>The lock times out at 55 s, deliberately shorter than the app's 60 s, so the app receives an explicit timeout instead of guessing.</a:t>
            </a:r>
            <a:endParaRPr lang="en-US" sz="1150" dirty="0"/>
          </a:p>
          <a:p>
            <a:pPr marL="342900" indent="-342900">
              <a:lnSpc>
                <a:spcPct val="105000"/>
              </a:lnSpc>
              <a:spcAft>
                <a:spcPts val="900"/>
              </a:spcAft>
              <a:buSzPct val="100000"/>
              <a:buChar char="•"/>
            </a:pPr>
            <a:r>
              <a:rPr lang="en-US" sz="1150" dirty="0">
                <a:solidFill>
                  <a:srgbClr val="D6DEE8"/>
                </a:solidFill>
                <a:latin typeface="Calibri" pitchFamily="34" charset="0"/>
                <a:ea typeface="Calibri" pitchFamily="34" charset="-122"/>
                <a:cs typeface="Calibri" pitchFamily="34" charset="-120"/>
              </a:rPr>
              <a:t>A repeated request replaces the phone's earlier one; a phone that disconnects before the decision leaves the queue.</a:t>
            </a:r>
            <a:endParaRPr lang="en-US" sz="1150" dirty="0"/>
          </a:p>
        </p:txBody>
      </p:sp>
      <p:sp>
        <p:nvSpPr>
          <p:cNvPr id="10" name="Shape 8"/>
          <p:cNvSpPr/>
          <p:nvPr/>
        </p:nvSpPr>
        <p:spPr>
          <a:xfrm>
            <a:off x="6254496" y="1335024"/>
            <a:ext cx="5294376" cy="4626864"/>
          </a:xfrm>
          <a:prstGeom prst="roundRect">
            <a:avLst>
              <a:gd name="adj" fmla="val 1383"/>
            </a:avLst>
          </a:prstGeom>
          <a:solidFill>
            <a:srgbClr val="1B2430"/>
          </a:solidFill>
          <a:ln/>
        </p:spPr>
      </p:sp>
      <p:sp>
        <p:nvSpPr>
          <p:cNvPr id="11" name="Text 9"/>
          <p:cNvSpPr/>
          <p:nvPr/>
        </p:nvSpPr>
        <p:spPr>
          <a:xfrm>
            <a:off x="6547104" y="1517904"/>
            <a:ext cx="4709160" cy="3291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Unlock</a:t>
            </a:r>
            <a:endParaRPr lang="en-US" sz="2000" dirty="0"/>
          </a:p>
        </p:txBody>
      </p:sp>
      <p:sp>
        <p:nvSpPr>
          <p:cNvPr id="12" name="Text 10"/>
          <p:cNvSpPr/>
          <p:nvPr/>
        </p:nvSpPr>
        <p:spPr>
          <a:xfrm>
            <a:off x="6547104" y="1828800"/>
            <a:ext cx="4709160" cy="256032"/>
          </a:xfrm>
          <a:prstGeom prst="rect">
            <a:avLst/>
          </a:prstGeom>
          <a:noFill/>
          <a:ln/>
        </p:spPr>
        <p:txBody>
          <a:bodyPr wrap="square" lIns="0" tIns="0" rIns="0" bIns="0" rtlCol="0" anchor="ctr"/>
          <a:lstStyle/>
          <a:p>
            <a:pPr indent="0" marL="0">
              <a:buNone/>
            </a:pPr>
            <a:r>
              <a:rPr lang="en-US" sz="1150" i="1" dirty="0">
                <a:solidFill>
                  <a:srgbClr val="2E9E8F"/>
                </a:solidFill>
                <a:latin typeface="Calibri" pitchFamily="34" charset="0"/>
                <a:ea typeface="Calibri" pitchFamily="34" charset="-122"/>
                <a:cs typeface="Calibri" pitchFamily="34" charset="-120"/>
              </a:rPr>
              <a:t>challenge–response, once per command</a:t>
            </a:r>
            <a:endParaRPr lang="en-US" sz="1150" dirty="0"/>
          </a:p>
        </p:txBody>
      </p:sp>
      <p:sp>
        <p:nvSpPr>
          <p:cNvPr id="13" name="Shape 11"/>
          <p:cNvSpPr/>
          <p:nvPr/>
        </p:nvSpPr>
        <p:spPr>
          <a:xfrm>
            <a:off x="6547104" y="2194560"/>
            <a:ext cx="4709160" cy="749808"/>
          </a:xfrm>
          <a:prstGeom prst="roundRect">
            <a:avLst>
              <a:gd name="adj" fmla="val 8537"/>
            </a:avLst>
          </a:prstGeom>
          <a:solidFill>
            <a:srgbClr val="232E3C"/>
          </a:solidFill>
          <a:ln/>
        </p:spPr>
      </p:sp>
      <p:sp>
        <p:nvSpPr>
          <p:cNvPr id="14" name="Text 12"/>
          <p:cNvSpPr/>
          <p:nvPr/>
        </p:nvSpPr>
        <p:spPr>
          <a:xfrm>
            <a:off x="6729984" y="2340864"/>
            <a:ext cx="4343400" cy="694944"/>
          </a:xfrm>
          <a:prstGeom prst="rect">
            <a:avLst/>
          </a:prstGeom>
          <a:noFill/>
          <a:ln/>
        </p:spPr>
        <p:txBody>
          <a:bodyPr wrap="square" lIns="0" tIns="0" rIns="0" bIns="0" rtlCol="0" anchor="t"/>
          <a:lstStyle/>
          <a:p>
            <a:pPr indent="0" marL="0">
              <a:lnSpc>
                <a:spcPct val="118000"/>
              </a:lnSpc>
              <a:buNone/>
            </a:pPr>
            <a:r>
              <a:rPr lang="en-US" sz="960" dirty="0">
                <a:solidFill>
                  <a:srgbClr val="E08A2E"/>
                </a:solidFill>
                <a:latin typeface="Courier New" pitchFamily="34" charset="0"/>
                <a:ea typeface="Courier New" pitchFamily="34" charset="-122"/>
                <a:cs typeface="Courier New" pitchFamily="34" charset="-120"/>
              </a:rPr>
              <a:t>mac = HMAC-SHA256(secret,</a:t>
            </a:r>
            <a:endParaRPr lang="en-US" sz="960" dirty="0"/>
          </a:p>
          <a:p>
            <a:pPr indent="0" marL="0">
              <a:lnSpc>
                <a:spcPct val="118000"/>
              </a:lnSpc>
              <a:buNone/>
            </a:pPr>
            <a:r>
              <a:rPr lang="en-US" sz="960" dirty="0">
                <a:solidFill>
                  <a:srgbClr val="E08A2E"/>
                </a:solidFill>
                <a:latin typeface="Courier New" pitchFamily="34" charset="0"/>
                <a:ea typeface="Courier New" pitchFamily="34" charset="-122"/>
                <a:cs typeface="Courier New" pitchFamily="34" charset="-120"/>
              </a:rPr>
              <a:t>      "unlock" || 0x00 || deviceId || 0x00 || nonce)</a:t>
            </a:r>
            <a:endParaRPr lang="en-US" sz="960" dirty="0"/>
          </a:p>
        </p:txBody>
      </p:sp>
      <p:sp>
        <p:nvSpPr>
          <p:cNvPr id="15" name="Text 13"/>
          <p:cNvSpPr/>
          <p:nvPr/>
        </p:nvSpPr>
        <p:spPr>
          <a:xfrm>
            <a:off x="6547104" y="3108960"/>
            <a:ext cx="4709160" cy="2706624"/>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150" dirty="0">
                <a:solidFill>
                  <a:srgbClr val="D6DEE8"/>
                </a:solidFill>
                <a:latin typeface="Calibri" pitchFamily="34" charset="0"/>
                <a:ea typeface="Calibri" pitchFamily="34" charset="-122"/>
                <a:cs typeface="Calibri" pitchFamily="34" charset="-120"/>
              </a:rPr>
              <a:t>16-byte nonce, 5 s TTL, single use — each new read invalidates the previous challenge.</a:t>
            </a:r>
            <a:endParaRPr lang="en-US" sz="1150" dirty="0"/>
          </a:p>
          <a:p>
            <a:pPr marL="342900" indent="-342900">
              <a:lnSpc>
                <a:spcPct val="105000"/>
              </a:lnSpc>
              <a:spcAft>
                <a:spcPts val="900"/>
              </a:spcAft>
              <a:buSzPct val="100000"/>
              <a:buChar char="•"/>
            </a:pPr>
            <a:r>
              <a:rPr lang="en-US" sz="1150" dirty="0">
                <a:solidFill>
                  <a:srgbClr val="D6DEE8"/>
                </a:solidFill>
                <a:latin typeface="Calibri" pitchFamily="34" charset="0"/>
                <a:ea typeface="Calibri" pitchFamily="34" charset="-122"/>
                <a:cs typeface="Calibri" pitchFamily="34" charset="-120"/>
              </a:rPr>
              <a:t>The "unlock" context string binds the proof to the operation: a captured MAC is useless for anything else.</a:t>
            </a:r>
            <a:endParaRPr lang="en-US" sz="1150" dirty="0"/>
          </a:p>
          <a:p>
            <a:pPr marL="342900" indent="-342900">
              <a:lnSpc>
                <a:spcPct val="105000"/>
              </a:lnSpc>
              <a:spcAft>
                <a:spcPts val="900"/>
              </a:spcAft>
              <a:buSzPct val="100000"/>
              <a:buChar char="•"/>
            </a:pPr>
            <a:r>
              <a:rPr lang="en-US" sz="1150" dirty="0">
                <a:solidFill>
                  <a:srgbClr val="D6DEE8"/>
                </a:solidFill>
                <a:latin typeface="Calibri" pitchFamily="34" charset="0"/>
                <a:ea typeface="Calibri" pitchFamily="34" charset="-122"/>
                <a:cs typeface="Calibri" pitchFamily="34" charset="-120"/>
              </a:rPr>
              <a:t>One successful authentication authorises exactly one unlock command, and only for the deviceId that authenticated.</a:t>
            </a:r>
            <a:endParaRPr lang="en-US" sz="1150" dirty="0"/>
          </a:p>
          <a:p>
            <a:pPr marL="342900" indent="-342900">
              <a:lnSpc>
                <a:spcPct val="105000"/>
              </a:lnSpc>
              <a:spcAft>
                <a:spcPts val="900"/>
              </a:spcAft>
              <a:buSzPct val="100000"/>
              <a:buChar char="•"/>
            </a:pPr>
            <a:r>
              <a:rPr lang="en-US" sz="1150" dirty="0">
                <a:solidFill>
                  <a:srgbClr val="D6DEE8"/>
                </a:solidFill>
                <a:latin typeface="Calibri" pitchFamily="34" charset="0"/>
                <a:ea typeface="Calibri" pitchFamily="34" charset="-122"/>
                <a:cs typeface="Calibri" pitchFamily="34" charset="-120"/>
              </a:rPr>
              <a:t>Constant-time comparison. Three bad attempts trigger a 30 s lockout that survives reconnection.</a:t>
            </a:r>
            <a:endParaRPr lang="en-US" sz="1150" dirty="0"/>
          </a:p>
          <a:p>
            <a:pPr marL="342900" indent="-342900">
              <a:lnSpc>
                <a:spcPct val="105000"/>
              </a:lnSpc>
              <a:spcAft>
                <a:spcPts val="900"/>
              </a:spcAft>
              <a:buSzPct val="100000"/>
              <a:buChar char="•"/>
            </a:pPr>
            <a:r>
              <a:rPr lang="en-US" sz="1150" dirty="0">
                <a:solidFill>
                  <a:srgbClr val="D6DEE8"/>
                </a:solidFill>
                <a:latin typeface="Calibri" pitchFamily="34" charset="0"/>
                <a:ea typeface="Calibri" pitchFamily="34" charset="-122"/>
                <a:cs typeface="Calibri" pitchFamily="34" charset="-120"/>
              </a:rPr>
              <a:t>Challenge and session state are held per connection, so two phones operating in parallel never interfere with each other.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41C"/>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DEMONSTRATION</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Live, on the bench</a:t>
            </a:r>
            <a:endParaRPr lang="en-US" sz="3100" dirty="0"/>
          </a:p>
        </p:txBody>
      </p:sp>
      <p:sp>
        <p:nvSpPr>
          <p:cNvPr id="4" name="Shape 2"/>
          <p:cNvSpPr/>
          <p:nvPr/>
        </p:nvSpPr>
        <p:spPr>
          <a:xfrm>
            <a:off x="640080" y="1371600"/>
            <a:ext cx="3538728" cy="1975104"/>
          </a:xfrm>
          <a:prstGeom prst="roundRect">
            <a:avLst>
              <a:gd name="adj" fmla="val 3241"/>
            </a:avLst>
          </a:prstGeom>
          <a:solidFill>
            <a:srgbClr val="1B2430"/>
          </a:solidFill>
          <a:ln/>
        </p:spPr>
      </p:sp>
      <p:sp>
        <p:nvSpPr>
          <p:cNvPr id="5" name="Shape 3"/>
          <p:cNvSpPr/>
          <p:nvPr/>
        </p:nvSpPr>
        <p:spPr>
          <a:xfrm>
            <a:off x="914400" y="1609344"/>
            <a:ext cx="347472" cy="347472"/>
          </a:xfrm>
          <a:prstGeom prst="ellipse">
            <a:avLst/>
          </a:prstGeom>
          <a:solidFill>
            <a:srgbClr val="E08A2E"/>
          </a:solidFill>
          <a:ln/>
        </p:spPr>
      </p:sp>
      <p:sp>
        <p:nvSpPr>
          <p:cNvPr id="6" name="Text 4"/>
          <p:cNvSpPr/>
          <p:nvPr/>
        </p:nvSpPr>
        <p:spPr>
          <a:xfrm>
            <a:off x="914400" y="1609344"/>
            <a:ext cx="347472" cy="347472"/>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914400" y="2066544"/>
            <a:ext cx="2990088"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Lock is up</a:t>
            </a:r>
            <a:endParaRPr lang="en-US" sz="1600" dirty="0"/>
          </a:p>
        </p:txBody>
      </p:sp>
      <p:sp>
        <p:nvSpPr>
          <p:cNvPr id="8" name="Text 6"/>
          <p:cNvSpPr/>
          <p:nvPr/>
        </p:nvSpPr>
        <p:spPr>
          <a:xfrm>
            <a:off x="914400" y="2414016"/>
            <a:ext cx="2990088" cy="804672"/>
          </a:xfrm>
          <a:prstGeom prst="rect">
            <a:avLst/>
          </a:prstGeom>
          <a:noFill/>
          <a:ln/>
        </p:spPr>
        <p:txBody>
          <a:bodyPr wrap="square" lIns="0" tIns="0" rIns="0" bIns="0" rtlCol="0" anchor="t"/>
          <a:lstStyle/>
          <a:p>
            <a:pPr indent="0" marL="0">
              <a:lnSpc>
                <a:spcPct val="110000"/>
              </a:lnSpc>
              <a:buNone/>
            </a:pPr>
            <a:r>
              <a:rPr lang="en-US" sz="1100" dirty="0">
                <a:solidFill>
                  <a:srgbClr val="97A4B3"/>
                </a:solidFill>
                <a:latin typeface="Calibri" pitchFamily="34" charset="0"/>
                <a:ea typeface="Calibri" pitchFamily="34" charset="-122"/>
                <a:cs typeface="Calibri" pitchFamily="34" charset="-120"/>
              </a:rPr>
              <a:t>SmartLock-Sala advertising; the app lists it under Nearby.</a:t>
            </a:r>
            <a:endParaRPr lang="en-US" sz="1100" dirty="0"/>
          </a:p>
        </p:txBody>
      </p:sp>
      <p:sp>
        <p:nvSpPr>
          <p:cNvPr id="9" name="Shape 7"/>
          <p:cNvSpPr/>
          <p:nvPr/>
        </p:nvSpPr>
        <p:spPr>
          <a:xfrm>
            <a:off x="4325112" y="1371600"/>
            <a:ext cx="3538728" cy="1975104"/>
          </a:xfrm>
          <a:prstGeom prst="roundRect">
            <a:avLst>
              <a:gd name="adj" fmla="val 3241"/>
            </a:avLst>
          </a:prstGeom>
          <a:solidFill>
            <a:srgbClr val="1B2430"/>
          </a:solidFill>
          <a:ln/>
        </p:spPr>
      </p:sp>
      <p:sp>
        <p:nvSpPr>
          <p:cNvPr id="10" name="Shape 8"/>
          <p:cNvSpPr/>
          <p:nvPr/>
        </p:nvSpPr>
        <p:spPr>
          <a:xfrm>
            <a:off x="4599432" y="1609344"/>
            <a:ext cx="347472" cy="347472"/>
          </a:xfrm>
          <a:prstGeom prst="ellipse">
            <a:avLst/>
          </a:prstGeom>
          <a:solidFill>
            <a:srgbClr val="E08A2E"/>
          </a:solidFill>
          <a:ln/>
        </p:spPr>
      </p:sp>
      <p:sp>
        <p:nvSpPr>
          <p:cNvPr id="11" name="Text 9"/>
          <p:cNvSpPr/>
          <p:nvPr/>
        </p:nvSpPr>
        <p:spPr>
          <a:xfrm>
            <a:off x="4599432" y="1609344"/>
            <a:ext cx="347472" cy="347472"/>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2</a:t>
            </a:r>
            <a:endParaRPr lang="en-US" sz="1150" dirty="0"/>
          </a:p>
        </p:txBody>
      </p:sp>
      <p:sp>
        <p:nvSpPr>
          <p:cNvPr id="12" name="Shape 10"/>
          <p:cNvSpPr/>
          <p:nvPr/>
        </p:nvSpPr>
        <p:spPr>
          <a:xfrm>
            <a:off x="7077456" y="1645920"/>
            <a:ext cx="512064" cy="274320"/>
          </a:xfrm>
          <a:prstGeom prst="roundRect">
            <a:avLst>
              <a:gd name="adj" fmla="val 166667"/>
            </a:avLst>
          </a:prstGeom>
          <a:solidFill>
            <a:srgbClr val="2E9E8F"/>
          </a:solidFill>
          <a:ln/>
        </p:spPr>
      </p:sp>
      <p:sp>
        <p:nvSpPr>
          <p:cNvPr id="13" name="Text 11"/>
          <p:cNvSpPr/>
          <p:nvPr/>
        </p:nvSpPr>
        <p:spPr>
          <a:xfrm>
            <a:off x="7077456" y="1645920"/>
            <a:ext cx="51206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R3</a:t>
            </a:r>
            <a:endParaRPr lang="en-US" sz="1000" dirty="0"/>
          </a:p>
        </p:txBody>
      </p:sp>
      <p:sp>
        <p:nvSpPr>
          <p:cNvPr id="14" name="Text 12"/>
          <p:cNvSpPr/>
          <p:nvPr/>
        </p:nvSpPr>
        <p:spPr>
          <a:xfrm>
            <a:off x="4599432" y="2066544"/>
            <a:ext cx="2990088"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Enroll</a:t>
            </a:r>
            <a:endParaRPr lang="en-US" sz="1600" dirty="0"/>
          </a:p>
        </p:txBody>
      </p:sp>
      <p:sp>
        <p:nvSpPr>
          <p:cNvPr id="15" name="Text 13"/>
          <p:cNvSpPr/>
          <p:nvPr/>
        </p:nvSpPr>
        <p:spPr>
          <a:xfrm>
            <a:off x="4599432" y="2414016"/>
            <a:ext cx="2990088" cy="804672"/>
          </a:xfrm>
          <a:prstGeom prst="rect">
            <a:avLst/>
          </a:prstGeom>
          <a:noFill/>
          <a:ln/>
        </p:spPr>
        <p:txBody>
          <a:bodyPr wrap="square" lIns="0" tIns="0" rIns="0" bIns="0" rtlCol="0" anchor="t"/>
          <a:lstStyle/>
          <a:p>
            <a:pPr indent="0" marL="0">
              <a:lnSpc>
                <a:spcPct val="110000"/>
              </a:lnSpc>
              <a:buNone/>
            </a:pPr>
            <a:r>
              <a:rPr lang="en-US" sz="1100" dirty="0">
                <a:solidFill>
                  <a:srgbClr val="97A4B3"/>
                </a:solidFill>
                <a:latin typeface="Calibri" pitchFamily="34" charset="0"/>
                <a:ea typeface="Calibri" pitchFamily="34" charset="-122"/>
                <a:cs typeface="Calibri" pitchFamily="34" charset="-120"/>
              </a:rPr>
              <a:t>Tap Request access. The yellow LED comes on. Press ALLOW (S4) on the board — the app stores the credential.</a:t>
            </a:r>
            <a:endParaRPr lang="en-US" sz="1100" dirty="0"/>
          </a:p>
        </p:txBody>
      </p:sp>
      <p:sp>
        <p:nvSpPr>
          <p:cNvPr id="16" name="Shape 14"/>
          <p:cNvSpPr/>
          <p:nvPr/>
        </p:nvSpPr>
        <p:spPr>
          <a:xfrm>
            <a:off x="8010144" y="1371600"/>
            <a:ext cx="3538728" cy="1975104"/>
          </a:xfrm>
          <a:prstGeom prst="roundRect">
            <a:avLst>
              <a:gd name="adj" fmla="val 3241"/>
            </a:avLst>
          </a:prstGeom>
          <a:solidFill>
            <a:srgbClr val="1B2430"/>
          </a:solidFill>
          <a:ln/>
        </p:spPr>
      </p:sp>
      <p:sp>
        <p:nvSpPr>
          <p:cNvPr id="17" name="Shape 15"/>
          <p:cNvSpPr/>
          <p:nvPr/>
        </p:nvSpPr>
        <p:spPr>
          <a:xfrm>
            <a:off x="8284464" y="1609344"/>
            <a:ext cx="347472" cy="347472"/>
          </a:xfrm>
          <a:prstGeom prst="ellipse">
            <a:avLst/>
          </a:prstGeom>
          <a:solidFill>
            <a:srgbClr val="E08A2E"/>
          </a:solidFill>
          <a:ln/>
        </p:spPr>
      </p:sp>
      <p:sp>
        <p:nvSpPr>
          <p:cNvPr id="18" name="Text 16"/>
          <p:cNvSpPr/>
          <p:nvPr/>
        </p:nvSpPr>
        <p:spPr>
          <a:xfrm>
            <a:off x="8284464" y="1609344"/>
            <a:ext cx="347472" cy="347472"/>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3</a:t>
            </a:r>
            <a:endParaRPr lang="en-US" sz="1150" dirty="0"/>
          </a:p>
        </p:txBody>
      </p:sp>
      <p:sp>
        <p:nvSpPr>
          <p:cNvPr id="19" name="Shape 17"/>
          <p:cNvSpPr/>
          <p:nvPr/>
        </p:nvSpPr>
        <p:spPr>
          <a:xfrm>
            <a:off x="10762488" y="1645920"/>
            <a:ext cx="512064" cy="274320"/>
          </a:xfrm>
          <a:prstGeom prst="roundRect">
            <a:avLst>
              <a:gd name="adj" fmla="val 166667"/>
            </a:avLst>
          </a:prstGeom>
          <a:solidFill>
            <a:srgbClr val="2E9E8F"/>
          </a:solidFill>
          <a:ln/>
        </p:spPr>
      </p:sp>
      <p:sp>
        <p:nvSpPr>
          <p:cNvPr id="20" name="Text 18"/>
          <p:cNvSpPr/>
          <p:nvPr/>
        </p:nvSpPr>
        <p:spPr>
          <a:xfrm>
            <a:off x="10762488" y="1645920"/>
            <a:ext cx="51206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R1</a:t>
            </a:r>
            <a:endParaRPr lang="en-US" sz="1000" dirty="0"/>
          </a:p>
        </p:txBody>
      </p:sp>
      <p:sp>
        <p:nvSpPr>
          <p:cNvPr id="21" name="Text 19"/>
          <p:cNvSpPr/>
          <p:nvPr/>
        </p:nvSpPr>
        <p:spPr>
          <a:xfrm>
            <a:off x="8284464" y="2066544"/>
            <a:ext cx="2990088"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Unlock</a:t>
            </a:r>
            <a:endParaRPr lang="en-US" sz="1600" dirty="0"/>
          </a:p>
        </p:txBody>
      </p:sp>
      <p:sp>
        <p:nvSpPr>
          <p:cNvPr id="22" name="Text 20"/>
          <p:cNvSpPr/>
          <p:nvPr/>
        </p:nvSpPr>
        <p:spPr>
          <a:xfrm>
            <a:off x="8284464" y="2414016"/>
            <a:ext cx="2990088" cy="804672"/>
          </a:xfrm>
          <a:prstGeom prst="rect">
            <a:avLst/>
          </a:prstGeom>
          <a:noFill/>
          <a:ln/>
        </p:spPr>
        <p:txBody>
          <a:bodyPr wrap="square" lIns="0" tIns="0" rIns="0" bIns="0" rtlCol="0" anchor="t"/>
          <a:lstStyle/>
          <a:p>
            <a:pPr indent="0" marL="0">
              <a:lnSpc>
                <a:spcPct val="110000"/>
              </a:lnSpc>
              <a:buNone/>
            </a:pPr>
            <a:r>
              <a:rPr lang="en-US" sz="1100" dirty="0">
                <a:solidFill>
                  <a:srgbClr val="97A4B3"/>
                </a:solidFill>
                <a:latin typeface="Calibri" pitchFamily="34" charset="0"/>
                <a:ea typeface="Calibri" pitchFamily="34" charset="-122"/>
                <a:cs typeface="Calibri" pitchFamily="34" charset="-120"/>
              </a:rPr>
              <a:t>Tap Unlock. The relay clicks, the blue LED comes on, and the lock re-engages automatically after 5 s.</a:t>
            </a:r>
            <a:endParaRPr lang="en-US" sz="1100" dirty="0"/>
          </a:p>
        </p:txBody>
      </p:sp>
      <p:sp>
        <p:nvSpPr>
          <p:cNvPr id="23" name="Shape 21"/>
          <p:cNvSpPr/>
          <p:nvPr/>
        </p:nvSpPr>
        <p:spPr>
          <a:xfrm>
            <a:off x="640080" y="3529584"/>
            <a:ext cx="3538728" cy="1975104"/>
          </a:xfrm>
          <a:prstGeom prst="roundRect">
            <a:avLst>
              <a:gd name="adj" fmla="val 3241"/>
            </a:avLst>
          </a:prstGeom>
          <a:solidFill>
            <a:srgbClr val="1B2430"/>
          </a:solidFill>
          <a:ln/>
        </p:spPr>
      </p:sp>
      <p:sp>
        <p:nvSpPr>
          <p:cNvPr id="24" name="Shape 22"/>
          <p:cNvSpPr/>
          <p:nvPr/>
        </p:nvSpPr>
        <p:spPr>
          <a:xfrm>
            <a:off x="914400" y="3767328"/>
            <a:ext cx="347472" cy="347472"/>
          </a:xfrm>
          <a:prstGeom prst="ellipse">
            <a:avLst/>
          </a:prstGeom>
          <a:solidFill>
            <a:srgbClr val="E08A2E"/>
          </a:solidFill>
          <a:ln/>
        </p:spPr>
      </p:sp>
      <p:sp>
        <p:nvSpPr>
          <p:cNvPr id="25" name="Text 23"/>
          <p:cNvSpPr/>
          <p:nvPr/>
        </p:nvSpPr>
        <p:spPr>
          <a:xfrm>
            <a:off x="914400" y="3767328"/>
            <a:ext cx="347472" cy="347472"/>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4</a:t>
            </a:r>
            <a:endParaRPr lang="en-US" sz="1150" dirty="0"/>
          </a:p>
        </p:txBody>
      </p:sp>
      <p:sp>
        <p:nvSpPr>
          <p:cNvPr id="26" name="Text 24"/>
          <p:cNvSpPr/>
          <p:nvPr/>
        </p:nvSpPr>
        <p:spPr>
          <a:xfrm>
            <a:off x="914400" y="4224528"/>
            <a:ext cx="2990088"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Deny path</a:t>
            </a:r>
            <a:endParaRPr lang="en-US" sz="1600" dirty="0"/>
          </a:p>
        </p:txBody>
      </p:sp>
      <p:sp>
        <p:nvSpPr>
          <p:cNvPr id="27" name="Text 25"/>
          <p:cNvSpPr/>
          <p:nvPr/>
        </p:nvSpPr>
        <p:spPr>
          <a:xfrm>
            <a:off x="914400" y="4572000"/>
            <a:ext cx="2990088" cy="804672"/>
          </a:xfrm>
          <a:prstGeom prst="rect">
            <a:avLst/>
          </a:prstGeom>
          <a:noFill/>
          <a:ln/>
        </p:spPr>
        <p:txBody>
          <a:bodyPr wrap="square" lIns="0" tIns="0" rIns="0" bIns="0" rtlCol="0" anchor="t"/>
          <a:lstStyle/>
          <a:p>
            <a:pPr indent="0" marL="0">
              <a:lnSpc>
                <a:spcPct val="110000"/>
              </a:lnSpc>
              <a:buNone/>
            </a:pPr>
            <a:r>
              <a:rPr lang="en-US" sz="1100" dirty="0">
                <a:solidFill>
                  <a:srgbClr val="97A4B3"/>
                </a:solidFill>
                <a:latin typeface="Calibri" pitchFamily="34" charset="0"/>
                <a:ea typeface="Calibri" pitchFamily="34" charset="-122"/>
                <a:cs typeface="Calibri" pitchFamily="34" charset="-120"/>
              </a:rPr>
              <a:t>A second phone requests access. Press DENY (S5) — the app shows the request refused.</a:t>
            </a:r>
            <a:endParaRPr lang="en-US" sz="1100" dirty="0"/>
          </a:p>
        </p:txBody>
      </p:sp>
      <p:sp>
        <p:nvSpPr>
          <p:cNvPr id="28" name="Shape 26"/>
          <p:cNvSpPr/>
          <p:nvPr/>
        </p:nvSpPr>
        <p:spPr>
          <a:xfrm>
            <a:off x="4325112" y="3529584"/>
            <a:ext cx="3538728" cy="1975104"/>
          </a:xfrm>
          <a:prstGeom prst="roundRect">
            <a:avLst>
              <a:gd name="adj" fmla="val 3241"/>
            </a:avLst>
          </a:prstGeom>
          <a:solidFill>
            <a:srgbClr val="1B2430"/>
          </a:solidFill>
          <a:ln/>
        </p:spPr>
      </p:sp>
      <p:sp>
        <p:nvSpPr>
          <p:cNvPr id="29" name="Shape 27"/>
          <p:cNvSpPr/>
          <p:nvPr/>
        </p:nvSpPr>
        <p:spPr>
          <a:xfrm>
            <a:off x="4599432" y="3767328"/>
            <a:ext cx="347472" cy="347472"/>
          </a:xfrm>
          <a:prstGeom prst="ellipse">
            <a:avLst/>
          </a:prstGeom>
          <a:solidFill>
            <a:srgbClr val="E08A2E"/>
          </a:solidFill>
          <a:ln/>
        </p:spPr>
      </p:sp>
      <p:sp>
        <p:nvSpPr>
          <p:cNvPr id="30" name="Text 28"/>
          <p:cNvSpPr/>
          <p:nvPr/>
        </p:nvSpPr>
        <p:spPr>
          <a:xfrm>
            <a:off x="4599432" y="3767328"/>
            <a:ext cx="347472" cy="347472"/>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5</a:t>
            </a:r>
            <a:endParaRPr lang="en-US" sz="1150" dirty="0"/>
          </a:p>
        </p:txBody>
      </p:sp>
      <p:sp>
        <p:nvSpPr>
          <p:cNvPr id="31" name="Shape 29"/>
          <p:cNvSpPr/>
          <p:nvPr/>
        </p:nvSpPr>
        <p:spPr>
          <a:xfrm>
            <a:off x="7077456" y="3803904"/>
            <a:ext cx="512064" cy="274320"/>
          </a:xfrm>
          <a:prstGeom prst="roundRect">
            <a:avLst>
              <a:gd name="adj" fmla="val 166667"/>
            </a:avLst>
          </a:prstGeom>
          <a:solidFill>
            <a:srgbClr val="2E9E8F"/>
          </a:solidFill>
          <a:ln/>
        </p:spPr>
      </p:sp>
      <p:sp>
        <p:nvSpPr>
          <p:cNvPr id="32" name="Text 30"/>
          <p:cNvSpPr/>
          <p:nvPr/>
        </p:nvSpPr>
        <p:spPr>
          <a:xfrm>
            <a:off x="7077456" y="3803904"/>
            <a:ext cx="51206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R2</a:t>
            </a:r>
            <a:endParaRPr lang="en-US" sz="1000" dirty="0"/>
          </a:p>
        </p:txBody>
      </p:sp>
      <p:sp>
        <p:nvSpPr>
          <p:cNvPr id="33" name="Text 31"/>
          <p:cNvSpPr/>
          <p:nvPr/>
        </p:nvSpPr>
        <p:spPr>
          <a:xfrm>
            <a:off x="4599432" y="4224528"/>
            <a:ext cx="2990088"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Revoke</a:t>
            </a:r>
            <a:endParaRPr lang="en-US" sz="1600" dirty="0"/>
          </a:p>
        </p:txBody>
      </p:sp>
      <p:sp>
        <p:nvSpPr>
          <p:cNvPr id="34" name="Text 32"/>
          <p:cNvSpPr/>
          <p:nvPr/>
        </p:nvSpPr>
        <p:spPr>
          <a:xfrm>
            <a:off x="4599432" y="4572000"/>
            <a:ext cx="2990088" cy="804672"/>
          </a:xfrm>
          <a:prstGeom prst="rect">
            <a:avLst/>
          </a:prstGeom>
          <a:noFill/>
          <a:ln/>
        </p:spPr>
        <p:txBody>
          <a:bodyPr wrap="square" lIns="0" tIns="0" rIns="0" bIns="0" rtlCol="0" anchor="t"/>
          <a:lstStyle/>
          <a:p>
            <a:pPr indent="0" marL="0">
              <a:lnSpc>
                <a:spcPct val="110000"/>
              </a:lnSpc>
              <a:buNone/>
            </a:pPr>
            <a:r>
              <a:rPr lang="en-US" sz="1100" dirty="0">
                <a:solidFill>
                  <a:srgbClr val="97A4B3"/>
                </a:solidFill>
                <a:latin typeface="Calibri" pitchFamily="34" charset="0"/>
                <a:ea typeface="Calibri" pitchFamily="34" charset="-122"/>
                <a:cs typeface="Calibri" pitchFamily="34" charset="-120"/>
              </a:rPr>
              <a:t>python -m smartlock revoke &lt;deviceId&gt; — the same phone now gets denied.</a:t>
            </a:r>
            <a:endParaRPr lang="en-US" sz="1100" dirty="0"/>
          </a:p>
        </p:txBody>
      </p:sp>
      <p:sp>
        <p:nvSpPr>
          <p:cNvPr id="35" name="Shape 33"/>
          <p:cNvSpPr/>
          <p:nvPr/>
        </p:nvSpPr>
        <p:spPr>
          <a:xfrm>
            <a:off x="8010144" y="3529584"/>
            <a:ext cx="3538728" cy="1975104"/>
          </a:xfrm>
          <a:prstGeom prst="roundRect">
            <a:avLst>
              <a:gd name="adj" fmla="val 3241"/>
            </a:avLst>
          </a:prstGeom>
          <a:solidFill>
            <a:srgbClr val="1B2430"/>
          </a:solidFill>
          <a:ln/>
        </p:spPr>
      </p:sp>
      <p:sp>
        <p:nvSpPr>
          <p:cNvPr id="36" name="Shape 34"/>
          <p:cNvSpPr/>
          <p:nvPr/>
        </p:nvSpPr>
        <p:spPr>
          <a:xfrm>
            <a:off x="8284464" y="3767328"/>
            <a:ext cx="347472" cy="347472"/>
          </a:xfrm>
          <a:prstGeom prst="ellipse">
            <a:avLst/>
          </a:prstGeom>
          <a:solidFill>
            <a:srgbClr val="E08A2E"/>
          </a:solidFill>
          <a:ln/>
        </p:spPr>
      </p:sp>
      <p:sp>
        <p:nvSpPr>
          <p:cNvPr id="37" name="Text 35"/>
          <p:cNvSpPr/>
          <p:nvPr/>
        </p:nvSpPr>
        <p:spPr>
          <a:xfrm>
            <a:off x="8284464" y="3767328"/>
            <a:ext cx="347472" cy="347472"/>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6</a:t>
            </a:r>
            <a:endParaRPr lang="en-US" sz="1150" dirty="0"/>
          </a:p>
        </p:txBody>
      </p:sp>
      <p:sp>
        <p:nvSpPr>
          <p:cNvPr id="38" name="Shape 36"/>
          <p:cNvSpPr/>
          <p:nvPr/>
        </p:nvSpPr>
        <p:spPr>
          <a:xfrm>
            <a:off x="10762488" y="3803904"/>
            <a:ext cx="512064" cy="274320"/>
          </a:xfrm>
          <a:prstGeom prst="roundRect">
            <a:avLst>
              <a:gd name="adj" fmla="val 166667"/>
            </a:avLst>
          </a:prstGeom>
          <a:solidFill>
            <a:srgbClr val="2E9E8F"/>
          </a:solidFill>
          <a:ln/>
        </p:spPr>
      </p:sp>
      <p:sp>
        <p:nvSpPr>
          <p:cNvPr id="39" name="Text 37"/>
          <p:cNvSpPr/>
          <p:nvPr/>
        </p:nvSpPr>
        <p:spPr>
          <a:xfrm>
            <a:off x="10762488" y="3803904"/>
            <a:ext cx="51206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R4</a:t>
            </a:r>
            <a:endParaRPr lang="en-US" sz="1000" dirty="0"/>
          </a:p>
        </p:txBody>
      </p:sp>
      <p:sp>
        <p:nvSpPr>
          <p:cNvPr id="40" name="Text 38"/>
          <p:cNvSpPr/>
          <p:nvPr/>
        </p:nvSpPr>
        <p:spPr>
          <a:xfrm>
            <a:off x="8284464" y="4224528"/>
            <a:ext cx="2990088"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Audit</a:t>
            </a:r>
            <a:endParaRPr lang="en-US" sz="1600" dirty="0"/>
          </a:p>
        </p:txBody>
      </p:sp>
      <p:sp>
        <p:nvSpPr>
          <p:cNvPr id="41" name="Text 39"/>
          <p:cNvSpPr/>
          <p:nvPr/>
        </p:nvSpPr>
        <p:spPr>
          <a:xfrm>
            <a:off x="8284464" y="4572000"/>
            <a:ext cx="2990088" cy="804672"/>
          </a:xfrm>
          <a:prstGeom prst="rect">
            <a:avLst/>
          </a:prstGeom>
          <a:noFill/>
          <a:ln/>
        </p:spPr>
        <p:txBody>
          <a:bodyPr wrap="square" lIns="0" tIns="0" rIns="0" bIns="0" rtlCol="0" anchor="t"/>
          <a:lstStyle/>
          <a:p>
            <a:pPr indent="0" marL="0">
              <a:lnSpc>
                <a:spcPct val="110000"/>
              </a:lnSpc>
              <a:buNone/>
            </a:pPr>
            <a:r>
              <a:rPr lang="en-US" sz="1100" dirty="0">
                <a:solidFill>
                  <a:srgbClr val="97A4B3"/>
                </a:solidFill>
                <a:latin typeface="Calibri" pitchFamily="34" charset="0"/>
                <a:ea typeface="Calibri" pitchFamily="34" charset="-122"/>
                <a:cs typeface="Calibri" pitchFamily="34" charset="-120"/>
              </a:rPr>
              <a:t>python -m smartlock log — who, when, what, result. No secret, no nonce, no MAC anywhere in it.</a:t>
            </a:r>
            <a:endParaRPr lang="en-US" sz="1100" dirty="0"/>
          </a:p>
        </p:txBody>
      </p:sp>
      <p:sp>
        <p:nvSpPr>
          <p:cNvPr id="42" name="Text 40"/>
          <p:cNvSpPr/>
          <p:nvPr/>
        </p:nvSpPr>
        <p:spPr>
          <a:xfrm>
            <a:off x="640080" y="5870448"/>
            <a:ext cx="10908792" cy="310896"/>
          </a:xfrm>
          <a:prstGeom prst="rect">
            <a:avLst/>
          </a:prstGeom>
          <a:noFill/>
          <a:ln/>
        </p:spPr>
        <p:txBody>
          <a:bodyPr wrap="square" lIns="0" tIns="0" rIns="0" bIns="0" rtlCol="0" anchor="ctr"/>
          <a:lstStyle/>
          <a:p>
            <a:pPr indent="0" marL="0">
              <a:buNone/>
            </a:pPr>
            <a:r>
              <a:rPr lang="en-US" sz="1200" i="1" dirty="0">
                <a:solidFill>
                  <a:srgbClr val="6B7683"/>
                </a:solidFill>
                <a:latin typeface="Calibri" pitchFamily="34" charset="0"/>
                <a:ea typeface="Calibri" pitchFamily="34" charset="-122"/>
                <a:cs typeface="Calibri" pitchFamily="34" charset="-120"/>
              </a:rPr>
              <a:t>Every requirement from slide 2 is exercised live — nothing here is a recording.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RESULTS  ·  1 OF 2</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What works</a:t>
            </a:r>
            <a:endParaRPr lang="en-US" sz="3100" dirty="0"/>
          </a:p>
        </p:txBody>
      </p:sp>
      <p:sp>
        <p:nvSpPr>
          <p:cNvPr id="4" name="Shape 2"/>
          <p:cNvSpPr/>
          <p:nvPr/>
        </p:nvSpPr>
        <p:spPr>
          <a:xfrm>
            <a:off x="640080" y="1371600"/>
            <a:ext cx="3483864" cy="1572768"/>
          </a:xfrm>
          <a:prstGeom prst="roundRect">
            <a:avLst>
              <a:gd name="adj" fmla="val 4070"/>
            </a:avLst>
          </a:prstGeom>
          <a:solidFill>
            <a:srgbClr val="F1F4F7"/>
          </a:solidFill>
          <a:ln/>
        </p:spPr>
      </p:sp>
      <p:sp>
        <p:nvSpPr>
          <p:cNvPr id="5" name="Text 3"/>
          <p:cNvSpPr/>
          <p:nvPr/>
        </p:nvSpPr>
        <p:spPr>
          <a:xfrm>
            <a:off x="914400" y="1481328"/>
            <a:ext cx="2935224" cy="749808"/>
          </a:xfrm>
          <a:prstGeom prst="rect">
            <a:avLst/>
          </a:prstGeom>
          <a:noFill/>
          <a:ln/>
        </p:spPr>
        <p:txBody>
          <a:bodyPr wrap="square" lIns="0" tIns="0" rIns="0" bIns="0" rtlCol="0" anchor="ctr"/>
          <a:lstStyle/>
          <a:p>
            <a:pPr indent="0" marL="0">
              <a:buNone/>
            </a:pPr>
            <a:r>
              <a:rPr lang="en-US" sz="4600" b="1" dirty="0">
                <a:solidFill>
                  <a:srgbClr val="2E9E8F"/>
                </a:solidFill>
                <a:latin typeface="Cambria" pitchFamily="34" charset="0"/>
                <a:ea typeface="Cambria" pitchFamily="34" charset="-122"/>
                <a:cs typeface="Cambria" pitchFamily="34" charset="-120"/>
              </a:rPr>
              <a:t>3</a:t>
            </a:r>
            <a:endParaRPr lang="en-US" sz="4600" dirty="0"/>
          </a:p>
        </p:txBody>
      </p:sp>
      <p:sp>
        <p:nvSpPr>
          <p:cNvPr id="6" name="Text 4"/>
          <p:cNvSpPr/>
          <p:nvPr/>
        </p:nvSpPr>
        <p:spPr>
          <a:xfrm>
            <a:off x="914400" y="2249424"/>
            <a:ext cx="2935224" cy="566928"/>
          </a:xfrm>
          <a:prstGeom prst="rect">
            <a:avLst/>
          </a:prstGeom>
          <a:noFill/>
          <a:ln/>
        </p:spPr>
        <p:txBody>
          <a:bodyPr wrap="square" lIns="0" tIns="0" rIns="0" bIns="0" rtlCol="0" anchor="t"/>
          <a:lstStyle/>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implementations,</a:t>
            </a:r>
            <a:endParaRPr lang="en-US" sz="1150" dirty="0"/>
          </a:p>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one wire format</a:t>
            </a:r>
            <a:endParaRPr lang="en-US" sz="1150" dirty="0"/>
          </a:p>
        </p:txBody>
      </p:sp>
      <p:sp>
        <p:nvSpPr>
          <p:cNvPr id="7" name="Shape 5"/>
          <p:cNvSpPr/>
          <p:nvPr/>
        </p:nvSpPr>
        <p:spPr>
          <a:xfrm>
            <a:off x="4352544" y="1371600"/>
            <a:ext cx="3483864" cy="1572768"/>
          </a:xfrm>
          <a:prstGeom prst="roundRect">
            <a:avLst>
              <a:gd name="adj" fmla="val 4070"/>
            </a:avLst>
          </a:prstGeom>
          <a:solidFill>
            <a:srgbClr val="F1F4F7"/>
          </a:solidFill>
          <a:ln/>
        </p:spPr>
      </p:sp>
      <p:sp>
        <p:nvSpPr>
          <p:cNvPr id="8" name="Text 6"/>
          <p:cNvSpPr/>
          <p:nvPr/>
        </p:nvSpPr>
        <p:spPr>
          <a:xfrm>
            <a:off x="4626864" y="1481328"/>
            <a:ext cx="2935224" cy="749808"/>
          </a:xfrm>
          <a:prstGeom prst="rect">
            <a:avLst/>
          </a:prstGeom>
          <a:noFill/>
          <a:ln/>
        </p:spPr>
        <p:txBody>
          <a:bodyPr wrap="square" lIns="0" tIns="0" rIns="0" bIns="0" rtlCol="0" anchor="ctr"/>
          <a:lstStyle/>
          <a:p>
            <a:pPr indent="0" marL="0">
              <a:buNone/>
            </a:pPr>
            <a:r>
              <a:rPr lang="en-US" sz="4600" b="1" dirty="0">
                <a:solidFill>
                  <a:srgbClr val="2E9E8F"/>
                </a:solidFill>
                <a:latin typeface="Cambria" pitchFamily="34" charset="0"/>
                <a:ea typeface="Cambria" pitchFamily="34" charset="-122"/>
                <a:cs typeface="Cambria" pitchFamily="34" charset="-120"/>
              </a:rPr>
              <a:t>7</a:t>
            </a:r>
            <a:endParaRPr lang="en-US" sz="4600" dirty="0"/>
          </a:p>
        </p:txBody>
      </p:sp>
      <p:sp>
        <p:nvSpPr>
          <p:cNvPr id="9" name="Text 7"/>
          <p:cNvSpPr/>
          <p:nvPr/>
        </p:nvSpPr>
        <p:spPr>
          <a:xfrm>
            <a:off x="4626864" y="2249424"/>
            <a:ext cx="2935224" cy="566928"/>
          </a:xfrm>
          <a:prstGeom prst="rect">
            <a:avLst/>
          </a:prstGeom>
          <a:noFill/>
          <a:ln/>
        </p:spPr>
        <p:txBody>
          <a:bodyPr wrap="square" lIns="0" tIns="0" rIns="0" bIns="0" rtlCol="0" anchor="t"/>
          <a:lstStyle/>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GATT characteristics</a:t>
            </a:r>
            <a:endParaRPr lang="en-US" sz="1150" dirty="0"/>
          </a:p>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on a single service</a:t>
            </a:r>
            <a:endParaRPr lang="en-US" sz="1150" dirty="0"/>
          </a:p>
        </p:txBody>
      </p:sp>
      <p:sp>
        <p:nvSpPr>
          <p:cNvPr id="10" name="Shape 8"/>
          <p:cNvSpPr/>
          <p:nvPr/>
        </p:nvSpPr>
        <p:spPr>
          <a:xfrm>
            <a:off x="8065008" y="1371600"/>
            <a:ext cx="3483864" cy="1572768"/>
          </a:xfrm>
          <a:prstGeom prst="roundRect">
            <a:avLst>
              <a:gd name="adj" fmla="val 4070"/>
            </a:avLst>
          </a:prstGeom>
          <a:solidFill>
            <a:srgbClr val="F1F4F7"/>
          </a:solidFill>
          <a:ln/>
        </p:spPr>
      </p:sp>
      <p:sp>
        <p:nvSpPr>
          <p:cNvPr id="11" name="Text 9"/>
          <p:cNvSpPr/>
          <p:nvPr/>
        </p:nvSpPr>
        <p:spPr>
          <a:xfrm>
            <a:off x="8339328" y="1481328"/>
            <a:ext cx="2935224" cy="749808"/>
          </a:xfrm>
          <a:prstGeom prst="rect">
            <a:avLst/>
          </a:prstGeom>
          <a:noFill/>
          <a:ln/>
        </p:spPr>
        <p:txBody>
          <a:bodyPr wrap="square" lIns="0" tIns="0" rIns="0" bIns="0" rtlCol="0" anchor="ctr"/>
          <a:lstStyle/>
          <a:p>
            <a:pPr indent="0" marL="0">
              <a:buNone/>
            </a:pPr>
            <a:r>
              <a:rPr lang="en-US" sz="4600" b="1" dirty="0">
                <a:solidFill>
                  <a:srgbClr val="E08A2E"/>
                </a:solidFill>
                <a:latin typeface="Cambria" pitchFamily="34" charset="0"/>
                <a:ea typeface="Cambria" pitchFamily="34" charset="-122"/>
                <a:cs typeface="Cambria" pitchFamily="34" charset="-120"/>
              </a:rPr>
              <a:t>~7.8k</a:t>
            </a:r>
            <a:endParaRPr lang="en-US" sz="4600" dirty="0"/>
          </a:p>
        </p:txBody>
      </p:sp>
      <p:sp>
        <p:nvSpPr>
          <p:cNvPr id="12" name="Text 10"/>
          <p:cNvSpPr/>
          <p:nvPr/>
        </p:nvSpPr>
        <p:spPr>
          <a:xfrm>
            <a:off x="8339328" y="2249424"/>
            <a:ext cx="2935224" cy="566928"/>
          </a:xfrm>
          <a:prstGeom prst="rect">
            <a:avLst/>
          </a:prstGeom>
          <a:noFill/>
          <a:ln/>
        </p:spPr>
        <p:txBody>
          <a:bodyPr wrap="square" lIns="0" tIns="0" rIns="0" bIns="0" rtlCol="0" anchor="t"/>
          <a:lstStyle/>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lines of code</a:t>
            </a:r>
            <a:endParaRPr lang="en-US" sz="1150" dirty="0"/>
          </a:p>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Pi 2.5k · iOS 1.9k · Android 3.3k</a:t>
            </a:r>
            <a:endParaRPr lang="en-US" sz="1150" dirty="0"/>
          </a:p>
        </p:txBody>
      </p:sp>
      <p:sp>
        <p:nvSpPr>
          <p:cNvPr id="13" name="Text 11"/>
          <p:cNvSpPr/>
          <p:nvPr/>
        </p:nvSpPr>
        <p:spPr>
          <a:xfrm>
            <a:off x="640080" y="3200400"/>
            <a:ext cx="5294376" cy="237744"/>
          </a:xfrm>
          <a:prstGeom prst="rect">
            <a:avLst/>
          </a:prstGeom>
          <a:noFill/>
          <a:ln/>
        </p:spPr>
        <p:txBody>
          <a:bodyPr wrap="square" lIns="0" tIns="0" rIns="0" bIns="0" rtlCol="0" anchor="ctr"/>
          <a:lstStyle/>
          <a:p>
            <a:pPr indent="0" marL="0">
              <a:buNone/>
            </a:pPr>
            <a:r>
              <a:rPr lang="en-US" sz="1050" b="1" spc="160" kern="0" dirty="0">
                <a:solidFill>
                  <a:srgbClr val="6B7683"/>
                </a:solidFill>
                <a:latin typeface="Calibri" pitchFamily="34" charset="0"/>
                <a:ea typeface="Calibri" pitchFamily="34" charset="-122"/>
                <a:cs typeface="Calibri" pitchFamily="34" charset="-120"/>
              </a:rPr>
              <a:t>VERIFIED END TO END</a:t>
            </a:r>
            <a:endParaRPr lang="en-US" sz="1050" dirty="0"/>
          </a:p>
        </p:txBody>
      </p:sp>
      <p:sp>
        <p:nvSpPr>
          <p:cNvPr id="14" name="Text 12"/>
          <p:cNvSpPr/>
          <p:nvPr/>
        </p:nvSpPr>
        <p:spPr>
          <a:xfrm>
            <a:off x="640080" y="3529584"/>
            <a:ext cx="5294376" cy="2286000"/>
          </a:xfrm>
          <a:prstGeom prst="rect">
            <a:avLst/>
          </a:prstGeom>
          <a:noFill/>
          <a:ln/>
        </p:spPr>
        <p:txBody>
          <a:bodyPr wrap="square" lIns="0" tIns="0" rIns="0" bIns="0" rtlCol="0" anchor="t"/>
          <a:lstStyle/>
          <a:p>
            <a:pPr marL="342900" indent="-342900">
              <a:lnSpc>
                <a:spcPct val="105000"/>
              </a:lnSpc>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iOS and Android both enroll, unlock and get revoked against the same lock — with no platform-specific code in the peripheral.</a:t>
            </a:r>
            <a:endParaRPr lang="en-US" sz="1250" dirty="0"/>
          </a:p>
          <a:p>
            <a:pPr marL="342900" indent="-342900">
              <a:lnSpc>
                <a:spcPct val="105000"/>
              </a:lnSpc>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A second unlock inside the open window restarts the timer instead of opening a second one, so open time stays bounded by the last valid command.</a:t>
            </a:r>
            <a:endParaRPr lang="en-US" sz="1250" dirty="0"/>
          </a:p>
        </p:txBody>
      </p:sp>
      <p:sp>
        <p:nvSpPr>
          <p:cNvPr id="15" name="Text 13"/>
          <p:cNvSpPr/>
          <p:nvPr/>
        </p:nvSpPr>
        <p:spPr>
          <a:xfrm>
            <a:off x="6254496" y="3200400"/>
            <a:ext cx="5294376" cy="237744"/>
          </a:xfrm>
          <a:prstGeom prst="rect">
            <a:avLst/>
          </a:prstGeom>
          <a:noFill/>
          <a:ln/>
        </p:spPr>
        <p:txBody>
          <a:bodyPr wrap="square" lIns="0" tIns="0" rIns="0" bIns="0" rtlCol="0" anchor="ctr"/>
          <a:lstStyle/>
          <a:p>
            <a:pPr indent="0" marL="0">
              <a:buNone/>
            </a:pPr>
            <a:r>
              <a:rPr lang="en-US" sz="1050" b="1" spc="160" kern="0" dirty="0">
                <a:solidFill>
                  <a:srgbClr val="6B7683"/>
                </a:solidFill>
                <a:latin typeface="Calibri" pitchFamily="34" charset="0"/>
                <a:ea typeface="Calibri" pitchFamily="34" charset="-122"/>
                <a:cs typeface="Calibri" pitchFamily="34" charset="-120"/>
              </a:rPr>
              <a:t>DEPLOYED, NOT JUST DEMONSTRATED</a:t>
            </a:r>
            <a:endParaRPr lang="en-US" sz="1050" dirty="0"/>
          </a:p>
        </p:txBody>
      </p:sp>
      <p:sp>
        <p:nvSpPr>
          <p:cNvPr id="16" name="Text 14"/>
          <p:cNvSpPr/>
          <p:nvPr/>
        </p:nvSpPr>
        <p:spPr>
          <a:xfrm>
            <a:off x="6254496" y="3529584"/>
            <a:ext cx="5294376" cy="2286000"/>
          </a:xfrm>
          <a:prstGeom prst="rect">
            <a:avLst/>
          </a:prstGeom>
          <a:noFill/>
          <a:ln/>
        </p:spPr>
        <p:txBody>
          <a:bodyPr wrap="square" lIns="0" tIns="0" rIns="0" bIns="0" rtlCol="0" anchor="t"/>
          <a:lstStyle/>
          <a:p>
            <a:pPr marL="342900" indent="-342900">
              <a:lnSpc>
                <a:spcPct val="105000"/>
              </a:lnSpc>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Runs as a systemd unit: starts at boot, restarts on failure, database created under UMask 0077.</a:t>
            </a:r>
            <a:endParaRPr lang="en-US" sz="1250" dirty="0"/>
          </a:p>
          <a:p>
            <a:pPr marL="342900" indent="-342900">
              <a:lnSpc>
                <a:spcPct val="105000"/>
              </a:lnSpc>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The service re-locks on shutdown — a process that dies does not leave the door standing open.</a:t>
            </a:r>
            <a:endParaRPr lang="en-US" sz="1250" dirty="0"/>
          </a:p>
        </p:txBody>
      </p:sp>
      <p:sp>
        <p:nvSpPr>
          <p:cNvPr id="17" name="Shape 15"/>
          <p:cNvSpPr/>
          <p:nvPr/>
        </p:nvSpPr>
        <p:spPr>
          <a:xfrm>
            <a:off x="640080" y="5047488"/>
            <a:ext cx="10908792" cy="1371600"/>
          </a:xfrm>
          <a:prstGeom prst="roundRect">
            <a:avLst>
              <a:gd name="adj" fmla="val 4667"/>
            </a:avLst>
          </a:prstGeom>
          <a:solidFill>
            <a:srgbClr val="10141C"/>
          </a:solidFill>
          <a:ln/>
        </p:spPr>
      </p:sp>
      <p:sp>
        <p:nvSpPr>
          <p:cNvPr id="18" name="Text 16"/>
          <p:cNvSpPr/>
          <p:nvPr/>
        </p:nvSpPr>
        <p:spPr>
          <a:xfrm>
            <a:off x="950976" y="5193792"/>
            <a:ext cx="10287000" cy="219456"/>
          </a:xfrm>
          <a:prstGeom prst="rect">
            <a:avLst/>
          </a:prstGeom>
          <a:noFill/>
          <a:ln/>
        </p:spPr>
        <p:txBody>
          <a:bodyPr wrap="square" lIns="0" tIns="0" rIns="0" bIns="0" rtlCol="0" anchor="ctr"/>
          <a:lstStyle/>
          <a:p>
            <a:pPr indent="0" marL="0">
              <a:buNone/>
            </a:pPr>
            <a:r>
              <a:rPr lang="en-US" sz="950" b="1" spc="140" kern="0" dirty="0">
                <a:solidFill>
                  <a:srgbClr val="E08A2E"/>
                </a:solidFill>
                <a:latin typeface="Calibri" pitchFamily="34" charset="0"/>
                <a:ea typeface="Calibri" pitchFamily="34" charset="-122"/>
                <a:cs typeface="Calibri" pitchFamily="34" charset="-120"/>
              </a:rPr>
              <a:t>ACCESS LOG  —  NO SECRET, NO NONCE, NO MAC</a:t>
            </a:r>
            <a:endParaRPr lang="en-US" sz="950" dirty="0"/>
          </a:p>
        </p:txBody>
      </p:sp>
      <p:sp>
        <p:nvSpPr>
          <p:cNvPr id="19" name="Text 17"/>
          <p:cNvSpPr/>
          <p:nvPr/>
        </p:nvSpPr>
        <p:spPr>
          <a:xfrm>
            <a:off x="950976" y="5468112"/>
            <a:ext cx="10287000" cy="841248"/>
          </a:xfrm>
          <a:prstGeom prst="rect">
            <a:avLst/>
          </a:prstGeom>
          <a:noFill/>
          <a:ln/>
        </p:spPr>
        <p:txBody>
          <a:bodyPr wrap="square" lIns="0" tIns="0" rIns="0" bIns="0" rtlCol="0" anchor="t"/>
          <a:lstStyle/>
          <a:p>
            <a:pPr indent="0" marL="0">
              <a:lnSpc>
                <a:spcPct val="118000"/>
              </a:lnSpc>
              <a:buNone/>
            </a:pPr>
            <a:r>
              <a:rPr lang="en-US" sz="950" dirty="0">
                <a:solidFill>
                  <a:srgbClr val="CFE0EE"/>
                </a:solidFill>
                <a:latin typeface="Courier New" pitchFamily="34" charset="0"/>
                <a:ea typeface="Courier New" pitchFamily="34" charset="-122"/>
                <a:cs typeface="Courier New" pitchFamily="34" charset="-120"/>
              </a:rPr>
              <a:t>2026-08-10T21:14:03+00:00  enroll  ok            3f9c1a7e-5b02-4d18-9a44-0c7e2b61d8f0</a:t>
            </a:r>
            <a:endParaRPr lang="en-US" sz="950" dirty="0"/>
          </a:p>
          <a:p>
            <a:pPr indent="0" marL="0">
              <a:lnSpc>
                <a:spcPct val="118000"/>
              </a:lnSpc>
              <a:buNone/>
            </a:pPr>
            <a:r>
              <a:rPr lang="en-US" sz="950" dirty="0">
                <a:solidFill>
                  <a:srgbClr val="CFE0EE"/>
                </a:solidFill>
                <a:latin typeface="Courier New" pitchFamily="34" charset="0"/>
                <a:ea typeface="Courier New" pitchFamily="34" charset="-122"/>
                <a:cs typeface="Courier New" pitchFamily="34" charset="-120"/>
              </a:rPr>
              <a:t>2026-08-10T21:14:22+00:00  auth    ok            3f9c1a7e-5b02-4d18-9a44-0c7e2b61d8f0</a:t>
            </a:r>
            <a:endParaRPr lang="en-US" sz="950" dirty="0"/>
          </a:p>
          <a:p>
            <a:pPr indent="0" marL="0">
              <a:lnSpc>
                <a:spcPct val="118000"/>
              </a:lnSpc>
              <a:buNone/>
            </a:pPr>
            <a:r>
              <a:rPr lang="en-US" sz="950" dirty="0">
                <a:solidFill>
                  <a:srgbClr val="CFE0EE"/>
                </a:solidFill>
                <a:latin typeface="Courier New" pitchFamily="34" charset="0"/>
                <a:ea typeface="Courier New" pitchFamily="34" charset="-122"/>
                <a:cs typeface="Courier New" pitchFamily="34" charset="-120"/>
              </a:rPr>
              <a:t>2026-08-10T21:14:22+00:00  unlock  ok            3f9c1a7e-5b02-4d18-9a44-0c7e2b61d8f0</a:t>
            </a:r>
            <a:endParaRPr lang="en-US" sz="950" dirty="0"/>
          </a:p>
          <a:p>
            <a:pPr indent="0" marL="0">
              <a:lnSpc>
                <a:spcPct val="118000"/>
              </a:lnSpc>
              <a:buNone/>
            </a:pPr>
            <a:r>
              <a:rPr lang="en-US" sz="950" dirty="0">
                <a:solidFill>
                  <a:srgbClr val="CFE0EE"/>
                </a:solidFill>
                <a:latin typeface="Courier New" pitchFamily="34" charset="0"/>
                <a:ea typeface="Courier New" pitchFamily="34" charset="-122"/>
                <a:cs typeface="Courier New" pitchFamily="34" charset="-120"/>
              </a:rPr>
              <a:t>2026-08-10T21:19:41+00:00  auth    rate_limited  8b2d0a41-6c33-47ff-b1e5-9d40a3c7e112</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RESULTS  ·  2 OF 2</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How we tested</a:t>
            </a:r>
            <a:endParaRPr lang="en-US" sz="3100" dirty="0"/>
          </a:p>
        </p:txBody>
      </p:sp>
      <p:sp>
        <p:nvSpPr>
          <p:cNvPr id="4" name="Shape 2"/>
          <p:cNvSpPr/>
          <p:nvPr/>
        </p:nvSpPr>
        <p:spPr>
          <a:xfrm>
            <a:off x="640080" y="1371600"/>
            <a:ext cx="6812280" cy="859536"/>
          </a:xfrm>
          <a:prstGeom prst="roundRect">
            <a:avLst>
              <a:gd name="adj" fmla="val 7447"/>
            </a:avLst>
          </a:prstGeom>
          <a:solidFill>
            <a:srgbClr val="F1F4F7"/>
          </a:solidFill>
          <a:ln/>
        </p:spPr>
      </p:sp>
      <p:sp>
        <p:nvSpPr>
          <p:cNvPr id="5" name="Text 3"/>
          <p:cNvSpPr/>
          <p:nvPr/>
        </p:nvSpPr>
        <p:spPr>
          <a:xfrm>
            <a:off x="877824" y="1499616"/>
            <a:ext cx="1417320" cy="274320"/>
          </a:xfrm>
          <a:prstGeom prst="rect">
            <a:avLst/>
          </a:prstGeom>
          <a:noFill/>
          <a:ln/>
        </p:spPr>
        <p:txBody>
          <a:bodyPr wrap="square" lIns="0" tIns="0" rIns="0" bIns="0" rtlCol="0" anchor="ctr"/>
          <a:lstStyle/>
          <a:p>
            <a:pPr indent="0" marL="0">
              <a:buNone/>
            </a:pPr>
            <a:r>
              <a:rPr lang="en-US" sz="1050" b="1" spc="80" kern="0" dirty="0">
                <a:solidFill>
                  <a:srgbClr val="6B7683"/>
                </a:solidFill>
                <a:latin typeface="Calibri" pitchFamily="34" charset="0"/>
                <a:ea typeface="Calibri" pitchFamily="34" charset="-122"/>
                <a:cs typeface="Calibri" pitchFamily="34" charset="-120"/>
              </a:rPr>
              <a:t>Raspberry Pi</a:t>
            </a:r>
            <a:endParaRPr lang="en-US" sz="1050" dirty="0"/>
          </a:p>
        </p:txBody>
      </p:sp>
      <p:sp>
        <p:nvSpPr>
          <p:cNvPr id="6" name="Text 4"/>
          <p:cNvSpPr/>
          <p:nvPr/>
        </p:nvSpPr>
        <p:spPr>
          <a:xfrm>
            <a:off x="877824" y="1773936"/>
            <a:ext cx="2651760" cy="310896"/>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6 protocol scenarios</a:t>
            </a:r>
            <a:endParaRPr lang="en-US" sz="1400" dirty="0"/>
          </a:p>
        </p:txBody>
      </p:sp>
      <p:sp>
        <p:nvSpPr>
          <p:cNvPr id="7" name="Text 5"/>
          <p:cNvSpPr/>
          <p:nvPr/>
        </p:nvSpPr>
        <p:spPr>
          <a:xfrm>
            <a:off x="3657600" y="1554480"/>
            <a:ext cx="3520440" cy="512064"/>
          </a:xfrm>
          <a:prstGeom prst="rect">
            <a:avLst/>
          </a:prstGeom>
          <a:noFill/>
          <a:ln/>
        </p:spPr>
        <p:txBody>
          <a:bodyPr wrap="square" lIns="0" tIns="0" rIns="0" bIns="0" rtlCol="0" anchor="ctr"/>
          <a:lstStyle/>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unittest against a virtual clock — no BLE, no GPIO, no wall clock</a:t>
            </a:r>
            <a:endParaRPr lang="en-US" sz="1150" dirty="0"/>
          </a:p>
        </p:txBody>
      </p:sp>
      <p:sp>
        <p:nvSpPr>
          <p:cNvPr id="8" name="Shape 6"/>
          <p:cNvSpPr/>
          <p:nvPr/>
        </p:nvSpPr>
        <p:spPr>
          <a:xfrm>
            <a:off x="640080" y="2340864"/>
            <a:ext cx="6812280" cy="859536"/>
          </a:xfrm>
          <a:prstGeom prst="roundRect">
            <a:avLst>
              <a:gd name="adj" fmla="val 7447"/>
            </a:avLst>
          </a:prstGeom>
          <a:solidFill>
            <a:srgbClr val="F1F4F7"/>
          </a:solidFill>
          <a:ln/>
        </p:spPr>
      </p:sp>
      <p:sp>
        <p:nvSpPr>
          <p:cNvPr id="9" name="Text 7"/>
          <p:cNvSpPr/>
          <p:nvPr/>
        </p:nvSpPr>
        <p:spPr>
          <a:xfrm>
            <a:off x="877824" y="2468880"/>
            <a:ext cx="1417320" cy="274320"/>
          </a:xfrm>
          <a:prstGeom prst="rect">
            <a:avLst/>
          </a:prstGeom>
          <a:noFill/>
          <a:ln/>
        </p:spPr>
        <p:txBody>
          <a:bodyPr wrap="square" lIns="0" tIns="0" rIns="0" bIns="0" rtlCol="0" anchor="ctr"/>
          <a:lstStyle/>
          <a:p>
            <a:pPr indent="0" marL="0">
              <a:buNone/>
            </a:pPr>
            <a:r>
              <a:rPr lang="en-US" sz="1050" b="1" spc="80" kern="0" dirty="0">
                <a:solidFill>
                  <a:srgbClr val="6B7683"/>
                </a:solidFill>
                <a:latin typeface="Calibri" pitchFamily="34" charset="0"/>
                <a:ea typeface="Calibri" pitchFamily="34" charset="-122"/>
                <a:cs typeface="Calibri" pitchFamily="34" charset="-120"/>
              </a:rPr>
              <a:t>Raspberry Pi</a:t>
            </a:r>
            <a:endParaRPr lang="en-US" sz="1050" dirty="0"/>
          </a:p>
        </p:txBody>
      </p:sp>
      <p:sp>
        <p:nvSpPr>
          <p:cNvPr id="10" name="Text 8"/>
          <p:cNvSpPr/>
          <p:nvPr/>
        </p:nvSpPr>
        <p:spPr>
          <a:xfrm>
            <a:off x="877824" y="2743200"/>
            <a:ext cx="2651760" cy="310896"/>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8 advertisement-fallback tests</a:t>
            </a:r>
            <a:endParaRPr lang="en-US" sz="1400" dirty="0"/>
          </a:p>
        </p:txBody>
      </p:sp>
      <p:sp>
        <p:nvSpPr>
          <p:cNvPr id="11" name="Text 9"/>
          <p:cNvSpPr/>
          <p:nvPr/>
        </p:nvSpPr>
        <p:spPr>
          <a:xfrm>
            <a:off x="3657600" y="2523744"/>
            <a:ext cx="3520440" cy="512064"/>
          </a:xfrm>
          <a:prstGeom prst="rect">
            <a:avLst/>
          </a:prstGeom>
          <a:noFill/>
          <a:ln/>
        </p:spPr>
        <p:txBody>
          <a:bodyPr wrap="square" lIns="0" tIns="0" rIns="0" bIns="0" rtlCol="0" anchor="ctr"/>
          <a:lstStyle/>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a fake btmgmt exercising both failure paths</a:t>
            </a:r>
            <a:endParaRPr lang="en-US" sz="1150" dirty="0"/>
          </a:p>
        </p:txBody>
      </p:sp>
      <p:sp>
        <p:nvSpPr>
          <p:cNvPr id="12" name="Shape 10"/>
          <p:cNvSpPr/>
          <p:nvPr/>
        </p:nvSpPr>
        <p:spPr>
          <a:xfrm>
            <a:off x="640080" y="3310128"/>
            <a:ext cx="6812280" cy="859536"/>
          </a:xfrm>
          <a:prstGeom prst="roundRect">
            <a:avLst>
              <a:gd name="adj" fmla="val 7447"/>
            </a:avLst>
          </a:prstGeom>
          <a:solidFill>
            <a:srgbClr val="F1F4F7"/>
          </a:solidFill>
          <a:ln/>
        </p:spPr>
      </p:sp>
      <p:sp>
        <p:nvSpPr>
          <p:cNvPr id="13" name="Text 11"/>
          <p:cNvSpPr/>
          <p:nvPr/>
        </p:nvSpPr>
        <p:spPr>
          <a:xfrm>
            <a:off x="877824" y="3438144"/>
            <a:ext cx="1417320" cy="274320"/>
          </a:xfrm>
          <a:prstGeom prst="rect">
            <a:avLst/>
          </a:prstGeom>
          <a:noFill/>
          <a:ln/>
        </p:spPr>
        <p:txBody>
          <a:bodyPr wrap="square" lIns="0" tIns="0" rIns="0" bIns="0" rtlCol="0" anchor="ctr"/>
          <a:lstStyle/>
          <a:p>
            <a:pPr indent="0" marL="0">
              <a:buNone/>
            </a:pPr>
            <a:r>
              <a:rPr lang="en-US" sz="1050" b="1" spc="80" kern="0" dirty="0">
                <a:solidFill>
                  <a:srgbClr val="6B7683"/>
                </a:solidFill>
                <a:latin typeface="Calibri" pitchFamily="34" charset="0"/>
                <a:ea typeface="Calibri" pitchFamily="34" charset="-122"/>
                <a:cs typeface="Calibri" pitchFamily="34" charset="-120"/>
              </a:rPr>
              <a:t>Android</a:t>
            </a:r>
            <a:endParaRPr lang="en-US" sz="1050" dirty="0"/>
          </a:p>
        </p:txBody>
      </p:sp>
      <p:sp>
        <p:nvSpPr>
          <p:cNvPr id="14" name="Text 12"/>
          <p:cNvSpPr/>
          <p:nvPr/>
        </p:nvSpPr>
        <p:spPr>
          <a:xfrm>
            <a:off x="877824" y="3712464"/>
            <a:ext cx="2651760" cy="310896"/>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37 unit tests</a:t>
            </a:r>
            <a:endParaRPr lang="en-US" sz="1400" dirty="0"/>
          </a:p>
        </p:txBody>
      </p:sp>
      <p:sp>
        <p:nvSpPr>
          <p:cNvPr id="15" name="Text 13"/>
          <p:cNvSpPr/>
          <p:nvPr/>
        </p:nvSpPr>
        <p:spPr>
          <a:xfrm>
            <a:off x="3657600" y="3493008"/>
            <a:ext cx="3520440" cy="512064"/>
          </a:xfrm>
          <a:prstGeom prst="rect">
            <a:avLst/>
          </a:prstGeom>
          <a:noFill/>
          <a:ln/>
        </p:spPr>
        <p:txBody>
          <a:bodyPr wrap="square" lIns="0" tIns="0" rIns="0" bIns="0" rtlCol="0" anchor="ctr"/>
          <a:lstStyle/>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crypto, codec, state machine, FakeLockTransport</a:t>
            </a:r>
            <a:endParaRPr lang="en-US" sz="1150" dirty="0"/>
          </a:p>
        </p:txBody>
      </p:sp>
      <p:sp>
        <p:nvSpPr>
          <p:cNvPr id="16" name="Shape 14"/>
          <p:cNvSpPr/>
          <p:nvPr/>
        </p:nvSpPr>
        <p:spPr>
          <a:xfrm>
            <a:off x="640080" y="4279392"/>
            <a:ext cx="6812280" cy="859536"/>
          </a:xfrm>
          <a:prstGeom prst="roundRect">
            <a:avLst>
              <a:gd name="adj" fmla="val 7447"/>
            </a:avLst>
          </a:prstGeom>
          <a:solidFill>
            <a:srgbClr val="F1F4F7"/>
          </a:solidFill>
          <a:ln/>
        </p:spPr>
      </p:sp>
      <p:sp>
        <p:nvSpPr>
          <p:cNvPr id="17" name="Text 15"/>
          <p:cNvSpPr/>
          <p:nvPr/>
        </p:nvSpPr>
        <p:spPr>
          <a:xfrm>
            <a:off x="877824" y="4407408"/>
            <a:ext cx="1417320" cy="274320"/>
          </a:xfrm>
          <a:prstGeom prst="rect">
            <a:avLst/>
          </a:prstGeom>
          <a:noFill/>
          <a:ln/>
        </p:spPr>
        <p:txBody>
          <a:bodyPr wrap="square" lIns="0" tIns="0" rIns="0" bIns="0" rtlCol="0" anchor="ctr"/>
          <a:lstStyle/>
          <a:p>
            <a:pPr indent="0" marL="0">
              <a:buNone/>
            </a:pPr>
            <a:r>
              <a:rPr lang="en-US" sz="1050" b="1" spc="80" kern="0" dirty="0">
                <a:solidFill>
                  <a:srgbClr val="6B7683"/>
                </a:solidFill>
                <a:latin typeface="Calibri" pitchFamily="34" charset="0"/>
                <a:ea typeface="Calibri" pitchFamily="34" charset="-122"/>
                <a:cs typeface="Calibri" pitchFamily="34" charset="-120"/>
              </a:rPr>
              <a:t>iOS</a:t>
            </a:r>
            <a:endParaRPr lang="en-US" sz="1050" dirty="0"/>
          </a:p>
        </p:txBody>
      </p:sp>
      <p:sp>
        <p:nvSpPr>
          <p:cNvPr id="18" name="Text 16"/>
          <p:cNvSpPr/>
          <p:nvPr/>
        </p:nvSpPr>
        <p:spPr>
          <a:xfrm>
            <a:off x="877824" y="4681728"/>
            <a:ext cx="2651760" cy="310896"/>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MockLockTransport</a:t>
            </a:r>
            <a:endParaRPr lang="en-US" sz="1400" dirty="0"/>
          </a:p>
        </p:txBody>
      </p:sp>
      <p:sp>
        <p:nvSpPr>
          <p:cNvPr id="19" name="Text 17"/>
          <p:cNvSpPr/>
          <p:nvPr/>
        </p:nvSpPr>
        <p:spPr>
          <a:xfrm>
            <a:off x="3657600" y="4462272"/>
            <a:ext cx="3520440" cy="512064"/>
          </a:xfrm>
          <a:prstGeom prst="rect">
            <a:avLst/>
          </a:prstGeom>
          <a:noFill/>
          <a:ln/>
        </p:spPr>
        <p:txBody>
          <a:bodyPr wrap="square" lIns="0" tIns="0" rIns="0" bIns="0" rtlCol="0" anchor="ctr"/>
          <a:lstStyle/>
          <a:p>
            <a:pPr indent="0" marL="0">
              <a:lnSpc>
                <a:spcPct val="108000"/>
              </a:lnSpc>
              <a:buNone/>
            </a:pPr>
            <a:r>
              <a:rPr lang="en-US" sz="1150" dirty="0">
                <a:solidFill>
                  <a:srgbClr val="6B7683"/>
                </a:solidFill>
                <a:latin typeface="Calibri" pitchFamily="34" charset="0"/>
                <a:ea typeface="Calibri" pitchFamily="34" charset="-122"/>
                <a:cs typeface="Calibri" pitchFamily="34" charset="-120"/>
              </a:rPr>
              <a:t>an executable specification of the peripheral, runs in the Simulator</a:t>
            </a:r>
            <a:endParaRPr lang="en-US" sz="1150" dirty="0"/>
          </a:p>
        </p:txBody>
      </p:sp>
      <p:sp>
        <p:nvSpPr>
          <p:cNvPr id="20" name="Shape 18"/>
          <p:cNvSpPr/>
          <p:nvPr/>
        </p:nvSpPr>
        <p:spPr>
          <a:xfrm>
            <a:off x="7726680" y="1371600"/>
            <a:ext cx="3822192" cy="2249424"/>
          </a:xfrm>
          <a:prstGeom prst="roundRect">
            <a:avLst>
              <a:gd name="adj" fmla="val 2846"/>
            </a:avLst>
          </a:prstGeom>
          <a:solidFill>
            <a:srgbClr val="10141C"/>
          </a:solidFill>
          <a:ln/>
        </p:spPr>
      </p:sp>
      <p:sp>
        <p:nvSpPr>
          <p:cNvPr id="21" name="Text 19"/>
          <p:cNvSpPr/>
          <p:nvPr/>
        </p:nvSpPr>
        <p:spPr>
          <a:xfrm>
            <a:off x="8001000" y="1572768"/>
            <a:ext cx="3273552" cy="237744"/>
          </a:xfrm>
          <a:prstGeom prst="rect">
            <a:avLst/>
          </a:prstGeom>
          <a:noFill/>
          <a:ln/>
        </p:spPr>
        <p:txBody>
          <a:bodyPr wrap="square" lIns="0" tIns="0" rIns="0" bIns="0" rtlCol="0" anchor="ctr"/>
          <a:lstStyle/>
          <a:p>
            <a:pPr indent="0" marL="0">
              <a:buNone/>
            </a:pPr>
            <a:r>
              <a:rPr lang="en-US" sz="950" b="1" spc="140" kern="0" dirty="0">
                <a:solidFill>
                  <a:srgbClr val="E08A2E"/>
                </a:solidFill>
                <a:latin typeface="Calibri" pitchFamily="34" charset="0"/>
                <a:ea typeface="Calibri" pitchFamily="34" charset="-122"/>
                <a:cs typeface="Calibri" pitchFamily="34" charset="-120"/>
              </a:rPr>
              <a:t>THE ONE WE ARE PROUDEST OF</a:t>
            </a:r>
            <a:endParaRPr lang="en-US" sz="950" dirty="0"/>
          </a:p>
        </p:txBody>
      </p:sp>
      <p:sp>
        <p:nvSpPr>
          <p:cNvPr id="22" name="Text 20"/>
          <p:cNvSpPr/>
          <p:nvPr/>
        </p:nvSpPr>
        <p:spPr>
          <a:xfrm>
            <a:off x="8001000" y="1865376"/>
            <a:ext cx="3273552" cy="841248"/>
          </a:xfrm>
          <a:prstGeom prst="rect">
            <a:avLst/>
          </a:prstGeom>
          <a:noFill/>
          <a:ln/>
        </p:spPr>
        <p:txBody>
          <a:bodyPr wrap="square" lIns="0" tIns="0" rIns="0" bIns="0" rtlCol="0" anchor="t"/>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Android's crypto tests run against vectors generated by the Pi's own implementation.</a:t>
            </a:r>
            <a:endParaRPr lang="en-US" sz="1400" dirty="0"/>
          </a:p>
        </p:txBody>
      </p:sp>
      <p:sp>
        <p:nvSpPr>
          <p:cNvPr id="23" name="Text 21"/>
          <p:cNvSpPr/>
          <p:nvPr/>
        </p:nvSpPr>
        <p:spPr>
          <a:xfrm>
            <a:off x="8001000" y="2670048"/>
            <a:ext cx="3273552" cy="896112"/>
          </a:xfrm>
          <a:prstGeom prst="rect">
            <a:avLst/>
          </a:prstGeom>
          <a:noFill/>
          <a:ln/>
        </p:spPr>
        <p:txBody>
          <a:bodyPr wrap="square" lIns="0" tIns="0" rIns="0" bIns="0" rtlCol="0" anchor="t"/>
          <a:lstStyle/>
          <a:p>
            <a:pPr indent="0" marL="0">
              <a:lnSpc>
                <a:spcPct val="110000"/>
              </a:lnSpc>
              <a:buNone/>
            </a:pPr>
            <a:r>
              <a:rPr lang="en-US" sz="1150" dirty="0">
                <a:solidFill>
                  <a:srgbClr val="97A4B3"/>
                </a:solidFill>
                <a:latin typeface="Calibri" pitchFamily="34" charset="0"/>
                <a:ea typeface="Calibri" pitchFamily="34" charset="-122"/>
                <a:cs typeface="Calibri" pitchFamily="34" charset="-120"/>
              </a:rPr>
              <a:t>If the two ever disagree about a single byte of the HMAC, a JVM unit test fails — before anyone touches a radio.</a:t>
            </a:r>
            <a:endParaRPr lang="en-US" sz="1150" dirty="0"/>
          </a:p>
        </p:txBody>
      </p:sp>
      <p:sp>
        <p:nvSpPr>
          <p:cNvPr id="24" name="Shape 22"/>
          <p:cNvSpPr/>
          <p:nvPr/>
        </p:nvSpPr>
        <p:spPr>
          <a:xfrm>
            <a:off x="7726680" y="3785616"/>
            <a:ext cx="3822192" cy="1938528"/>
          </a:xfrm>
          <a:prstGeom prst="roundRect">
            <a:avLst>
              <a:gd name="adj" fmla="val 3302"/>
            </a:avLst>
          </a:prstGeom>
          <a:solidFill>
            <a:srgbClr val="F1F4F7"/>
          </a:solidFill>
          <a:ln/>
        </p:spPr>
      </p:sp>
      <p:sp>
        <p:nvSpPr>
          <p:cNvPr id="25" name="Text 23"/>
          <p:cNvSpPr/>
          <p:nvPr/>
        </p:nvSpPr>
        <p:spPr>
          <a:xfrm>
            <a:off x="8001000" y="3968496"/>
            <a:ext cx="3273552" cy="237744"/>
          </a:xfrm>
          <a:prstGeom prst="rect">
            <a:avLst/>
          </a:prstGeom>
          <a:noFill/>
          <a:ln/>
        </p:spPr>
        <p:txBody>
          <a:bodyPr wrap="square" lIns="0" tIns="0" rIns="0" bIns="0" rtlCol="0" anchor="ctr"/>
          <a:lstStyle/>
          <a:p>
            <a:pPr indent="0" marL="0">
              <a:buNone/>
            </a:pPr>
            <a:r>
              <a:rPr lang="en-US" sz="950" b="1" spc="140" kern="0" dirty="0">
                <a:solidFill>
                  <a:srgbClr val="6B7683"/>
                </a:solidFill>
                <a:latin typeface="Calibri" pitchFamily="34" charset="0"/>
                <a:ea typeface="Calibri" pitchFamily="34" charset="-122"/>
                <a:cs typeface="Calibri" pitchFamily="34" charset="-120"/>
              </a:rPr>
              <a:t>SCENARIOS COVERED</a:t>
            </a:r>
            <a:endParaRPr lang="en-US" sz="950" dirty="0"/>
          </a:p>
        </p:txBody>
      </p:sp>
      <p:sp>
        <p:nvSpPr>
          <p:cNvPr id="26" name="Text 24"/>
          <p:cNvSpPr/>
          <p:nvPr/>
        </p:nvSpPr>
        <p:spPr>
          <a:xfrm>
            <a:off x="8001000" y="4261104"/>
            <a:ext cx="3273552" cy="1298448"/>
          </a:xfrm>
          <a:prstGeom prst="rect">
            <a:avLst/>
          </a:prstGeom>
          <a:noFill/>
          <a:ln/>
        </p:spPr>
        <p:txBody>
          <a:bodyPr wrap="square" lIns="0" tIns="0" rIns="0" bIns="0" rtlCol="0" anchor="t"/>
          <a:lstStyle/>
          <a:p>
            <a:pPr indent="0" marL="0">
              <a:lnSpc>
                <a:spcPct val="112000"/>
              </a:lnSpc>
              <a:buNone/>
            </a:pPr>
            <a:r>
              <a:rPr lang="en-US" sz="1150" dirty="0">
                <a:solidFill>
                  <a:srgbClr val="1B2430"/>
                </a:solidFill>
                <a:latin typeface="Calibri" pitchFamily="34" charset="0"/>
                <a:ea typeface="Calibri" pitchFamily="34" charset="-122"/>
                <a:cs typeface="Calibri" pitchFamily="34" charset="-120"/>
              </a:rPr>
              <a:t>Expired nonce  ·  replayed session  ·  revoked device  ·  denied enrollment  ·  temporary lockout  ·  restart preserves enrolled devices</a:t>
            </a:r>
            <a:endParaRPr lang="en-US" sz="1150" dirty="0"/>
          </a:p>
        </p:txBody>
      </p:sp>
      <p:sp>
        <p:nvSpPr>
          <p:cNvPr id="27" name="Text 25"/>
          <p:cNvSpPr/>
          <p:nvPr/>
        </p:nvSpPr>
        <p:spPr>
          <a:xfrm>
            <a:off x="640080" y="5852160"/>
            <a:ext cx="10908792" cy="365760"/>
          </a:xfrm>
          <a:prstGeom prst="rect">
            <a:avLst/>
          </a:prstGeom>
          <a:noFill/>
          <a:ln/>
        </p:spPr>
        <p:txBody>
          <a:bodyPr wrap="square" lIns="0" tIns="0" rIns="0" bIns="0" rtlCol="0" anchor="ctr"/>
          <a:lstStyle/>
          <a:p>
            <a:pPr indent="0" marL="0">
              <a:buNone/>
            </a:pPr>
            <a:r>
              <a:rPr lang="en-US" sz="1200" i="1" dirty="0">
                <a:solidFill>
                  <a:srgbClr val="6B7683"/>
                </a:solidFill>
                <a:latin typeface="Calibri" pitchFamily="34" charset="0"/>
                <a:ea typeface="Calibri" pitchFamily="34" charset="-122"/>
                <a:cs typeface="Calibri" pitchFamily="34" charset="-120"/>
              </a:rPr>
              <a:t>Testing the peripheral without hardware was a design constraint, not luck: the rule layer imports neither D-Bus nor GPIO, so the entire protocol runs on a laptop.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41C"/>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DIFFICULTIES  ·  1 OF 2</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The advertisement that wouldn't</a:t>
            </a:r>
            <a:endParaRPr lang="en-US" sz="3100" dirty="0"/>
          </a:p>
        </p:txBody>
      </p:sp>
      <p:sp>
        <p:nvSpPr>
          <p:cNvPr id="4" name="Text 2"/>
          <p:cNvSpPr/>
          <p:nvPr/>
        </p:nvSpPr>
        <p:spPr>
          <a:xfrm>
            <a:off x="640080" y="1316736"/>
            <a:ext cx="10908792" cy="347472"/>
          </a:xfrm>
          <a:prstGeom prst="rect">
            <a:avLst/>
          </a:prstGeom>
          <a:noFill/>
          <a:ln/>
        </p:spPr>
        <p:txBody>
          <a:bodyPr wrap="square" lIns="0" tIns="0" rIns="0" bIns="0" rtlCol="0" anchor="ctr"/>
          <a:lstStyle/>
          <a:p>
            <a:pPr indent="0" marL="0">
              <a:buNone/>
            </a:pPr>
            <a:r>
              <a:rPr lang="en-US" sz="1400" dirty="0">
                <a:solidFill>
                  <a:srgbClr val="97A4B3"/>
                </a:solidFill>
                <a:latin typeface="Calibri" pitchFamily="34" charset="0"/>
                <a:ea typeface="Calibri" pitchFamily="34" charset="-122"/>
                <a:cs typeface="Calibri" pitchFamily="34" charset="-120"/>
              </a:rPr>
              <a:t>The GATT service registered fine. The advertisement did not — and without it the iPhone never sees the lock at all.</a:t>
            </a:r>
            <a:endParaRPr lang="en-US" sz="1400" dirty="0"/>
          </a:p>
        </p:txBody>
      </p:sp>
      <p:sp>
        <p:nvSpPr>
          <p:cNvPr id="5" name="Shape 3"/>
          <p:cNvSpPr/>
          <p:nvPr/>
        </p:nvSpPr>
        <p:spPr>
          <a:xfrm>
            <a:off x="640080" y="1828800"/>
            <a:ext cx="6035040" cy="4114800"/>
          </a:xfrm>
          <a:prstGeom prst="roundRect">
            <a:avLst>
              <a:gd name="adj" fmla="val 1556"/>
            </a:avLst>
          </a:prstGeom>
          <a:solidFill>
            <a:srgbClr val="1B2430"/>
          </a:solidFill>
          <a:ln/>
        </p:spPr>
      </p:sp>
      <p:sp>
        <p:nvSpPr>
          <p:cNvPr id="6" name="Text 4"/>
          <p:cNvSpPr/>
          <p:nvPr/>
        </p:nvSpPr>
        <p:spPr>
          <a:xfrm>
            <a:off x="932688" y="2029968"/>
            <a:ext cx="5449824" cy="237744"/>
          </a:xfrm>
          <a:prstGeom prst="rect">
            <a:avLst/>
          </a:prstGeom>
          <a:noFill/>
          <a:ln/>
        </p:spPr>
        <p:txBody>
          <a:bodyPr wrap="square" lIns="0" tIns="0" rIns="0" bIns="0" rtlCol="0" anchor="ctr"/>
          <a:lstStyle/>
          <a:p>
            <a:pPr indent="0" marL="0">
              <a:buNone/>
            </a:pPr>
            <a:r>
              <a:rPr lang="en-US" sz="950" b="1" spc="140" kern="0" dirty="0">
                <a:solidFill>
                  <a:srgbClr val="E08A2E"/>
                </a:solidFill>
                <a:latin typeface="Calibri" pitchFamily="34" charset="0"/>
                <a:ea typeface="Calibri" pitchFamily="34" charset="-122"/>
                <a:cs typeface="Calibri" pitchFamily="34" charset="-120"/>
              </a:rPr>
              <a:t>TRACED WITH btmon</a:t>
            </a:r>
            <a:endParaRPr lang="en-US" sz="950" dirty="0"/>
          </a:p>
        </p:txBody>
      </p:sp>
      <p:sp>
        <p:nvSpPr>
          <p:cNvPr id="7" name="Shape 5"/>
          <p:cNvSpPr/>
          <p:nvPr/>
        </p:nvSpPr>
        <p:spPr>
          <a:xfrm>
            <a:off x="932688" y="2395728"/>
            <a:ext cx="292608" cy="292608"/>
          </a:xfrm>
          <a:prstGeom prst="ellipse">
            <a:avLst/>
          </a:prstGeom>
          <a:solidFill>
            <a:srgbClr val="E08A2E"/>
          </a:solidFill>
          <a:ln/>
        </p:spPr>
      </p:sp>
      <p:sp>
        <p:nvSpPr>
          <p:cNvPr id="8" name="Text 6"/>
          <p:cNvSpPr/>
          <p:nvPr/>
        </p:nvSpPr>
        <p:spPr>
          <a:xfrm>
            <a:off x="932688" y="2395728"/>
            <a:ext cx="292608" cy="292608"/>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1</a:t>
            </a:r>
            <a:endParaRPr lang="en-US" sz="1150" dirty="0"/>
          </a:p>
        </p:txBody>
      </p:sp>
      <p:sp>
        <p:nvSpPr>
          <p:cNvPr id="9" name="Text 7"/>
          <p:cNvSpPr/>
          <p:nvPr/>
        </p:nvSpPr>
        <p:spPr>
          <a:xfrm>
            <a:off x="1389888" y="2368296"/>
            <a:ext cx="493776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BlueZ 5.82 takes the extended-advertising path</a:t>
            </a:r>
            <a:endParaRPr lang="en-US" sz="1350" dirty="0"/>
          </a:p>
        </p:txBody>
      </p:sp>
      <p:sp>
        <p:nvSpPr>
          <p:cNvPr id="10" name="Text 8"/>
          <p:cNvSpPr/>
          <p:nvPr/>
        </p:nvSpPr>
        <p:spPr>
          <a:xfrm>
            <a:off x="1389888" y="2724912"/>
            <a:ext cx="4937760" cy="640080"/>
          </a:xfrm>
          <a:prstGeom prst="rect">
            <a:avLst/>
          </a:prstGeom>
          <a:noFill/>
          <a:ln/>
        </p:spPr>
        <p:txBody>
          <a:bodyPr wrap="square" lIns="0" tIns="0" rIns="0" bIns="0" rtlCol="0" anchor="t"/>
          <a:lstStyle/>
          <a:p>
            <a:pPr indent="0" marL="0">
              <a:lnSpc>
                <a:spcPct val="108000"/>
              </a:lnSpc>
              <a:buNone/>
            </a:pPr>
            <a:r>
              <a:rPr lang="en-US" sz="1100" dirty="0">
                <a:solidFill>
                  <a:srgbClr val="97A4B3"/>
                </a:solidFill>
                <a:latin typeface="Calibri" pitchFamily="34" charset="0"/>
                <a:ea typeface="Calibri" pitchFamily="34" charset="-122"/>
                <a:cs typeface="Calibri" pitchFamily="34" charset="-120"/>
              </a:rPr>
              <a:t>Add Ext Adv Params (0x0054), then Add Ext Adv Data (0x0055).</a:t>
            </a:r>
            <a:endParaRPr lang="en-US" sz="1100" dirty="0"/>
          </a:p>
        </p:txBody>
      </p:sp>
      <p:sp>
        <p:nvSpPr>
          <p:cNvPr id="11" name="Shape 9"/>
          <p:cNvSpPr/>
          <p:nvPr/>
        </p:nvSpPr>
        <p:spPr>
          <a:xfrm>
            <a:off x="932688" y="3529584"/>
            <a:ext cx="292608" cy="292608"/>
          </a:xfrm>
          <a:prstGeom prst="ellipse">
            <a:avLst/>
          </a:prstGeom>
          <a:solidFill>
            <a:srgbClr val="E08A2E"/>
          </a:solidFill>
          <a:ln/>
        </p:spPr>
      </p:sp>
      <p:sp>
        <p:nvSpPr>
          <p:cNvPr id="12" name="Text 10"/>
          <p:cNvSpPr/>
          <p:nvPr/>
        </p:nvSpPr>
        <p:spPr>
          <a:xfrm>
            <a:off x="932688" y="3529584"/>
            <a:ext cx="292608" cy="292608"/>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2</a:t>
            </a:r>
            <a:endParaRPr lang="en-US" sz="1150" dirty="0"/>
          </a:p>
        </p:txBody>
      </p:sp>
      <p:sp>
        <p:nvSpPr>
          <p:cNvPr id="13" name="Text 11"/>
          <p:cNvSpPr/>
          <p:nvPr/>
        </p:nvSpPr>
        <p:spPr>
          <a:xfrm>
            <a:off x="1389888" y="3502152"/>
            <a:ext cx="493776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Params succeeds. Data returns Invalid Parameters</a:t>
            </a:r>
            <a:endParaRPr lang="en-US" sz="1350" dirty="0"/>
          </a:p>
        </p:txBody>
      </p:sp>
      <p:sp>
        <p:nvSpPr>
          <p:cNvPr id="14" name="Text 12"/>
          <p:cNvSpPr/>
          <p:nvPr/>
        </p:nvSpPr>
        <p:spPr>
          <a:xfrm>
            <a:off x="1389888" y="3858768"/>
            <a:ext cx="4937760" cy="640080"/>
          </a:xfrm>
          <a:prstGeom prst="rect">
            <a:avLst/>
          </a:prstGeom>
          <a:noFill/>
          <a:ln/>
        </p:spPr>
        <p:txBody>
          <a:bodyPr wrap="square" lIns="0" tIns="0" rIns="0" bIns="0" rtlCol="0" anchor="t"/>
          <a:lstStyle/>
          <a:p>
            <a:pPr indent="0" marL="0">
              <a:lnSpc>
                <a:spcPct val="108000"/>
              </a:lnSpc>
              <a:buNone/>
            </a:pPr>
            <a:r>
              <a:rPr lang="en-US" sz="1100" dirty="0">
                <a:solidFill>
                  <a:srgbClr val="97A4B3"/>
                </a:solidFill>
                <a:latin typeface="Calibri" pitchFamily="34" charset="0"/>
                <a:ea typeface="Calibri" pitchFamily="34" charset="-122"/>
                <a:cs typeface="Calibri" pitchFamily="34" charset="-120"/>
              </a:rPr>
              <a:t>For a payload of any size — including zero bytes. So it is not the packet.</a:t>
            </a:r>
            <a:endParaRPr lang="en-US" sz="1100" dirty="0"/>
          </a:p>
        </p:txBody>
      </p:sp>
      <p:sp>
        <p:nvSpPr>
          <p:cNvPr id="15" name="Shape 13"/>
          <p:cNvSpPr/>
          <p:nvPr/>
        </p:nvSpPr>
        <p:spPr>
          <a:xfrm>
            <a:off x="932688" y="4663440"/>
            <a:ext cx="292608" cy="292608"/>
          </a:xfrm>
          <a:prstGeom prst="ellipse">
            <a:avLst/>
          </a:prstGeom>
          <a:solidFill>
            <a:srgbClr val="E08A2E"/>
          </a:solidFill>
          <a:ln/>
        </p:spPr>
      </p:sp>
      <p:sp>
        <p:nvSpPr>
          <p:cNvPr id="16" name="Text 14"/>
          <p:cNvSpPr/>
          <p:nvPr/>
        </p:nvSpPr>
        <p:spPr>
          <a:xfrm>
            <a:off x="932688" y="4663440"/>
            <a:ext cx="292608" cy="292608"/>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389888" y="4636008"/>
            <a:ext cx="493776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controller does not implement the feature</a:t>
            </a:r>
            <a:endParaRPr lang="en-US" sz="1350" dirty="0"/>
          </a:p>
        </p:txBody>
      </p:sp>
      <p:sp>
        <p:nvSpPr>
          <p:cNvPr id="18" name="Text 16"/>
          <p:cNvSpPr/>
          <p:nvPr/>
        </p:nvSpPr>
        <p:spPr>
          <a:xfrm>
            <a:off x="1389888" y="4992624"/>
            <a:ext cx="4937760" cy="640080"/>
          </a:xfrm>
          <a:prstGeom prst="rect">
            <a:avLst/>
          </a:prstGeom>
          <a:noFill/>
          <a:ln/>
        </p:spPr>
        <p:txBody>
          <a:bodyPr wrap="square" lIns="0" tIns="0" rIns="0" bIns="0" rtlCol="0" anchor="t"/>
          <a:lstStyle/>
          <a:p>
            <a:pPr indent="0" marL="0">
              <a:lnSpc>
                <a:spcPct val="108000"/>
              </a:lnSpc>
              <a:buNone/>
            </a:pPr>
            <a:r>
              <a:rPr lang="en-US" sz="1100" dirty="0">
                <a:solidFill>
                  <a:srgbClr val="97A4B3"/>
                </a:solidFill>
                <a:latin typeface="Calibri" pitchFamily="34" charset="0"/>
                <a:ea typeface="Calibri" pitchFamily="34" charset="-122"/>
                <a:cs typeface="Calibri" pitchFamily="34" charset="-120"/>
              </a:rPr>
              <a:t>BCM4345C0 reports HCI version 9 (BT 5.0), but LE Features bit 12 — Extended Advertising — is zero.</a:t>
            </a:r>
            <a:endParaRPr lang="en-US" sz="1100" dirty="0"/>
          </a:p>
        </p:txBody>
      </p:sp>
      <p:sp>
        <p:nvSpPr>
          <p:cNvPr id="19" name="Shape 17"/>
          <p:cNvSpPr/>
          <p:nvPr/>
        </p:nvSpPr>
        <p:spPr>
          <a:xfrm>
            <a:off x="6949440" y="1828800"/>
            <a:ext cx="4599432" cy="1316736"/>
          </a:xfrm>
          <a:prstGeom prst="roundRect">
            <a:avLst>
              <a:gd name="adj" fmla="val 4861"/>
            </a:avLst>
          </a:prstGeom>
          <a:solidFill>
            <a:srgbClr val="232E3C"/>
          </a:solidFill>
          <a:ln/>
        </p:spPr>
      </p:sp>
      <p:sp>
        <p:nvSpPr>
          <p:cNvPr id="20" name="Text 18"/>
          <p:cNvSpPr/>
          <p:nvPr/>
        </p:nvSpPr>
        <p:spPr>
          <a:xfrm>
            <a:off x="7223760" y="2011680"/>
            <a:ext cx="4050792" cy="237744"/>
          </a:xfrm>
          <a:prstGeom prst="rect">
            <a:avLst/>
          </a:prstGeom>
          <a:noFill/>
          <a:ln/>
        </p:spPr>
        <p:txBody>
          <a:bodyPr wrap="square" lIns="0" tIns="0" rIns="0" bIns="0" rtlCol="0" anchor="ctr"/>
          <a:lstStyle/>
          <a:p>
            <a:pPr indent="0" marL="0">
              <a:buNone/>
            </a:pPr>
            <a:r>
              <a:rPr lang="en-US" sz="950" b="1" spc="140" kern="0" dirty="0">
                <a:solidFill>
                  <a:srgbClr val="C4453C"/>
                </a:solidFill>
                <a:latin typeface="Calibri" pitchFamily="34" charset="0"/>
                <a:ea typeface="Calibri" pitchFamily="34" charset="-122"/>
                <a:cs typeface="Calibri" pitchFamily="34" charset="-120"/>
              </a:rPr>
              <a:t>ROOT CAUSE</a:t>
            </a:r>
            <a:endParaRPr lang="en-US" sz="950" dirty="0"/>
          </a:p>
        </p:txBody>
      </p:sp>
      <p:sp>
        <p:nvSpPr>
          <p:cNvPr id="21" name="Text 19"/>
          <p:cNvSpPr/>
          <p:nvPr/>
        </p:nvSpPr>
        <p:spPr>
          <a:xfrm>
            <a:off x="7223760" y="2322576"/>
            <a:ext cx="4050792" cy="274320"/>
          </a:xfrm>
          <a:prstGeom prst="rect">
            <a:avLst/>
          </a:prstGeom>
          <a:noFill/>
          <a:ln/>
        </p:spPr>
        <p:txBody>
          <a:bodyPr wrap="square" lIns="0" tIns="0" rIns="0" bIns="0" rtlCol="0" anchor="t"/>
          <a:lstStyle/>
          <a:p>
            <a:pPr indent="0" marL="0">
              <a:lnSpc>
                <a:spcPct val="118000"/>
              </a:lnSpc>
              <a:buNone/>
            </a:pPr>
            <a:r>
              <a:rPr lang="en-US" sz="1100" dirty="0">
                <a:solidFill>
                  <a:srgbClr val="E08A2E"/>
                </a:solidFill>
                <a:latin typeface="Courier New" pitchFamily="34" charset="0"/>
                <a:ea typeface="Courier New" pitchFamily="34" charset="-122"/>
                <a:cs typeface="Courier New" pitchFamily="34" charset="-120"/>
              </a:rPr>
              <a:t>LE: 3f 00 00 08 00 00 00 00</a:t>
            </a:r>
            <a:endParaRPr lang="en-US" sz="1100" dirty="0"/>
          </a:p>
        </p:txBody>
      </p:sp>
      <p:sp>
        <p:nvSpPr>
          <p:cNvPr id="22" name="Text 20"/>
          <p:cNvSpPr/>
          <p:nvPr/>
        </p:nvSpPr>
        <p:spPr>
          <a:xfrm>
            <a:off x="7223760" y="2670048"/>
            <a:ext cx="4050792" cy="548640"/>
          </a:xfrm>
          <a:prstGeom prst="rect">
            <a:avLst/>
          </a:prstGeom>
          <a:noFill/>
          <a:ln/>
        </p:spPr>
        <p:txBody>
          <a:bodyPr wrap="square" lIns="0" tIns="0" rIns="0" bIns="0" rtlCol="0" anchor="t"/>
          <a:lstStyle/>
          <a:p>
            <a:pPr indent="0" marL="0">
              <a:lnSpc>
                <a:spcPct val="108000"/>
              </a:lnSpc>
              <a:buNone/>
            </a:pPr>
            <a:r>
              <a:rPr lang="en-US" sz="1150" dirty="0">
                <a:solidFill>
                  <a:srgbClr val="D6DEE8"/>
                </a:solidFill>
                <a:latin typeface="Calibri" pitchFamily="34" charset="0"/>
                <a:ea typeface="Calibri" pitchFamily="34" charset="-122"/>
                <a:cs typeface="Calibri" pitchFamily="34" charset="-120"/>
              </a:rPr>
              <a:t>bluetoothd was insisting on a feature the silicon does not have.</a:t>
            </a:r>
            <a:endParaRPr lang="en-US" sz="1150" dirty="0"/>
          </a:p>
        </p:txBody>
      </p:sp>
      <p:sp>
        <p:nvSpPr>
          <p:cNvPr id="23" name="Shape 21"/>
          <p:cNvSpPr/>
          <p:nvPr/>
        </p:nvSpPr>
        <p:spPr>
          <a:xfrm>
            <a:off x="6949440" y="3310128"/>
            <a:ext cx="4599432" cy="2633472"/>
          </a:xfrm>
          <a:prstGeom prst="roundRect">
            <a:avLst>
              <a:gd name="adj" fmla="val 2431"/>
            </a:avLst>
          </a:prstGeom>
          <a:solidFill>
            <a:srgbClr val="232E3C"/>
          </a:solidFill>
          <a:ln/>
        </p:spPr>
      </p:sp>
      <p:sp>
        <p:nvSpPr>
          <p:cNvPr id="24" name="Text 22"/>
          <p:cNvSpPr/>
          <p:nvPr/>
        </p:nvSpPr>
        <p:spPr>
          <a:xfrm>
            <a:off x="7223760" y="3511296"/>
            <a:ext cx="4050792" cy="237744"/>
          </a:xfrm>
          <a:prstGeom prst="rect">
            <a:avLst/>
          </a:prstGeom>
          <a:noFill/>
          <a:ln/>
        </p:spPr>
        <p:txBody>
          <a:bodyPr wrap="square" lIns="0" tIns="0" rIns="0" bIns="0" rtlCol="0" anchor="ctr"/>
          <a:lstStyle/>
          <a:p>
            <a:pPr indent="0" marL="0">
              <a:buNone/>
            </a:pPr>
            <a:r>
              <a:rPr lang="en-US" sz="950" b="1" spc="140" kern="0" dirty="0">
                <a:solidFill>
                  <a:srgbClr val="2E9E8F"/>
                </a:solidFill>
                <a:latin typeface="Calibri" pitchFamily="34" charset="0"/>
                <a:ea typeface="Calibri" pitchFamily="34" charset="-122"/>
                <a:cs typeface="Calibri" pitchFamily="34" charset="-120"/>
              </a:rPr>
              <a:t>RESOLUTION</a:t>
            </a:r>
            <a:endParaRPr lang="en-US" sz="950" dirty="0"/>
          </a:p>
        </p:txBody>
      </p:sp>
      <p:sp>
        <p:nvSpPr>
          <p:cNvPr id="25" name="Text 23"/>
          <p:cNvSpPr/>
          <p:nvPr/>
        </p:nvSpPr>
        <p:spPr>
          <a:xfrm>
            <a:off x="7223760" y="3822192"/>
            <a:ext cx="4050792" cy="566928"/>
          </a:xfrm>
          <a:prstGeom prst="rect">
            <a:avLst/>
          </a:prstGeom>
          <a:noFill/>
          <a:ln/>
        </p:spPr>
        <p:txBody>
          <a:bodyPr wrap="square" lIns="0" tIns="0" rIns="0" bIns="0" rtlCol="0" anchor="t"/>
          <a:lstStyle/>
          <a:p>
            <a:pPr indent="0" marL="0">
              <a:lnSpc>
                <a:spcPct val="108000"/>
              </a:lnSpc>
              <a:buNone/>
            </a:pPr>
            <a:r>
              <a:rPr lang="en-US" sz="1300" b="1" dirty="0">
                <a:solidFill>
                  <a:srgbClr val="FFFFFF"/>
                </a:solidFill>
                <a:latin typeface="Calibri" pitchFamily="34" charset="0"/>
                <a:ea typeface="Calibri" pitchFamily="34" charset="-122"/>
                <a:cs typeface="Calibri" pitchFamily="34" charset="-120"/>
              </a:rPr>
              <a:t>Try the D-Bus path first; on failure, fall back to the legacy MGMT path.</a:t>
            </a:r>
            <a:endParaRPr lang="en-US" sz="1300" dirty="0"/>
          </a:p>
        </p:txBody>
      </p:sp>
      <p:sp>
        <p:nvSpPr>
          <p:cNvPr id="26" name="Text 24"/>
          <p:cNvSpPr/>
          <p:nvPr/>
        </p:nvSpPr>
        <p:spPr>
          <a:xfrm>
            <a:off x="7223760" y="4517136"/>
            <a:ext cx="4050792" cy="512064"/>
          </a:xfrm>
          <a:prstGeom prst="rect">
            <a:avLst/>
          </a:prstGeom>
          <a:noFill/>
          <a:ln/>
        </p:spPr>
        <p:txBody>
          <a:bodyPr wrap="square" lIns="0" tIns="0" rIns="0" bIns="0" rtlCol="0" anchor="t"/>
          <a:lstStyle/>
          <a:p>
            <a:pPr indent="0" marL="0">
              <a:lnSpc>
                <a:spcPct val="118000"/>
              </a:lnSpc>
              <a:buNone/>
            </a:pPr>
            <a:r>
              <a:rPr lang="en-US" sz="950" dirty="0">
                <a:solidFill>
                  <a:srgbClr val="E08A2E"/>
                </a:solidFill>
                <a:latin typeface="Courier New" pitchFamily="34" charset="0"/>
                <a:ea typeface="Courier New" pitchFamily="34" charset="-122"/>
                <a:cs typeface="Courier New" pitchFamily="34" charset="-120"/>
              </a:rPr>
              <a:t>btmgmt --index 0 add-adv</a:t>
            </a:r>
            <a:endParaRPr lang="en-US" sz="950" dirty="0"/>
          </a:p>
          <a:p>
            <a:pPr indent="0" marL="0">
              <a:lnSpc>
                <a:spcPct val="118000"/>
              </a:lnSpc>
              <a:buNone/>
            </a:pPr>
            <a:r>
              <a:rPr lang="en-US" sz="950" dirty="0">
                <a:solidFill>
                  <a:srgbClr val="E08A2E"/>
                </a:solidFill>
                <a:latin typeface="Courier New" pitchFamily="34" charset="0"/>
                <a:ea typeface="Courier New" pitchFamily="34" charset="-122"/>
                <a:cs typeface="Courier New" pitchFamily="34" charset="-120"/>
              </a:rPr>
              <a:t>        -u &lt;service uuid&gt; -c -g -n 1</a:t>
            </a:r>
            <a:endParaRPr lang="en-US" sz="950" dirty="0"/>
          </a:p>
        </p:txBody>
      </p:sp>
      <p:sp>
        <p:nvSpPr>
          <p:cNvPr id="27" name="Text 25"/>
          <p:cNvSpPr/>
          <p:nvPr/>
        </p:nvSpPr>
        <p:spPr>
          <a:xfrm>
            <a:off x="7223760" y="5138928"/>
            <a:ext cx="4050792" cy="731520"/>
          </a:xfrm>
          <a:prstGeom prst="rect">
            <a:avLst/>
          </a:prstGeom>
          <a:noFill/>
          <a:ln/>
        </p:spPr>
        <p:txBody>
          <a:bodyPr wrap="square" lIns="0" tIns="0" rIns="0" bIns="0" rtlCol="0" anchor="t"/>
          <a:lstStyle/>
          <a:p>
            <a:pPr indent="0" marL="0">
              <a:lnSpc>
                <a:spcPct val="108000"/>
              </a:lnSpc>
              <a:buNone/>
            </a:pPr>
            <a:r>
              <a:rPr lang="en-US" sz="1050" dirty="0">
                <a:solidFill>
                  <a:srgbClr val="97A4B3"/>
                </a:solidFill>
                <a:latin typeface="Calibri" pitchFamily="34" charset="0"/>
                <a:ea typeface="Calibri" pitchFamily="34" charset="-122"/>
                <a:cs typeface="Calibri" pitchFamily="34" charset="-120"/>
              </a:rPr>
              <a:t>It succeeds on the same controller at the same instant. GATT stays registered with bluetoothd — only the advertisement changes route, and the phone cannot tell.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DIFFICULTIES  ·  2 OF 2</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Three stacks, one protocol</a:t>
            </a:r>
            <a:endParaRPr lang="en-US" sz="3100" dirty="0"/>
          </a:p>
        </p:txBody>
      </p:sp>
      <p:sp>
        <p:nvSpPr>
          <p:cNvPr id="4" name="Text 2"/>
          <p:cNvSpPr/>
          <p:nvPr/>
        </p:nvSpPr>
        <p:spPr>
          <a:xfrm>
            <a:off x="1188720" y="1316736"/>
            <a:ext cx="4206240" cy="237744"/>
          </a:xfrm>
          <a:prstGeom prst="rect">
            <a:avLst/>
          </a:prstGeom>
          <a:noFill/>
          <a:ln/>
        </p:spPr>
        <p:txBody>
          <a:bodyPr wrap="square" lIns="0" tIns="0" rIns="0" bIns="0" rtlCol="0" anchor="ctr"/>
          <a:lstStyle/>
          <a:p>
            <a:pPr indent="0" marL="0">
              <a:buNone/>
            </a:pPr>
            <a:r>
              <a:rPr lang="en-US" sz="1000" b="1" spc="150" kern="0" dirty="0">
                <a:solidFill>
                  <a:srgbClr val="C4453C"/>
                </a:solidFill>
                <a:latin typeface="Calibri" pitchFamily="34" charset="0"/>
                <a:ea typeface="Calibri" pitchFamily="34" charset="-122"/>
                <a:cs typeface="Calibri" pitchFamily="34" charset="-120"/>
              </a:rPr>
              <a:t>THE PROBLEM</a:t>
            </a:r>
            <a:endParaRPr lang="en-US" sz="1000" dirty="0"/>
          </a:p>
        </p:txBody>
      </p:sp>
      <p:sp>
        <p:nvSpPr>
          <p:cNvPr id="5" name="Text 3"/>
          <p:cNvSpPr/>
          <p:nvPr/>
        </p:nvSpPr>
        <p:spPr>
          <a:xfrm>
            <a:off x="5413248" y="1316736"/>
            <a:ext cx="5852160" cy="237744"/>
          </a:xfrm>
          <a:prstGeom prst="rect">
            <a:avLst/>
          </a:prstGeom>
          <a:noFill/>
          <a:ln/>
        </p:spPr>
        <p:txBody>
          <a:bodyPr wrap="square" lIns="0" tIns="0" rIns="0" bIns="0" rtlCol="0" anchor="ctr"/>
          <a:lstStyle/>
          <a:p>
            <a:pPr indent="0" marL="0">
              <a:buNone/>
            </a:pPr>
            <a:r>
              <a:rPr lang="en-US" sz="1000" b="1" spc="150" kern="0" dirty="0">
                <a:solidFill>
                  <a:srgbClr val="2E9E8F"/>
                </a:solidFill>
                <a:latin typeface="Calibri" pitchFamily="34" charset="0"/>
                <a:ea typeface="Calibri" pitchFamily="34" charset="-122"/>
                <a:cs typeface="Calibri" pitchFamily="34" charset="-120"/>
              </a:rPr>
              <a:t>WHAT WE DID ABOUT IT</a:t>
            </a:r>
            <a:endParaRPr lang="en-US" sz="1000" dirty="0"/>
          </a:p>
        </p:txBody>
      </p:sp>
      <p:sp>
        <p:nvSpPr>
          <p:cNvPr id="6" name="Shape 4"/>
          <p:cNvSpPr/>
          <p:nvPr/>
        </p:nvSpPr>
        <p:spPr>
          <a:xfrm>
            <a:off x="640080" y="1664208"/>
            <a:ext cx="10908792" cy="1097280"/>
          </a:xfrm>
          <a:prstGeom prst="roundRect">
            <a:avLst>
              <a:gd name="adj" fmla="val 5833"/>
            </a:avLst>
          </a:prstGeom>
          <a:solidFill>
            <a:srgbClr val="F1F4F7"/>
          </a:solidFill>
          <a:ln/>
        </p:spPr>
      </p:sp>
      <p:sp>
        <p:nvSpPr>
          <p:cNvPr id="7" name="Shape 5"/>
          <p:cNvSpPr/>
          <p:nvPr/>
        </p:nvSpPr>
        <p:spPr>
          <a:xfrm>
            <a:off x="914400" y="1883664"/>
            <a:ext cx="155448" cy="155448"/>
          </a:xfrm>
          <a:prstGeom prst="ellipse">
            <a:avLst/>
          </a:prstGeom>
          <a:solidFill>
            <a:srgbClr val="C4453C"/>
          </a:solidFill>
          <a:ln/>
        </p:spPr>
      </p:sp>
      <p:sp>
        <p:nvSpPr>
          <p:cNvPr id="8" name="Text 6"/>
          <p:cNvSpPr/>
          <p:nvPr/>
        </p:nvSpPr>
        <p:spPr>
          <a:xfrm>
            <a:off x="1188720" y="1792224"/>
            <a:ext cx="4206240" cy="329184"/>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Default ATT MTU is 23 bytes</a:t>
            </a:r>
            <a:endParaRPr lang="en-US" sz="1400" dirty="0"/>
          </a:p>
        </p:txBody>
      </p:sp>
      <p:sp>
        <p:nvSpPr>
          <p:cNvPr id="9" name="Text 7"/>
          <p:cNvSpPr/>
          <p:nvPr/>
        </p:nvSpPr>
        <p:spPr>
          <a:xfrm>
            <a:off x="1188720" y="2139696"/>
            <a:ext cx="4206240" cy="530352"/>
          </a:xfrm>
          <a:prstGeom prst="rect">
            <a:avLst/>
          </a:prstGeom>
          <a:noFill/>
          <a:ln/>
        </p:spPr>
        <p:txBody>
          <a:bodyPr wrap="square" lIns="0" tIns="0" rIns="0" bIns="0" rtlCol="0" anchor="t"/>
          <a:lstStyle/>
          <a:p>
            <a:pPr indent="0" marL="0">
              <a:lnSpc>
                <a:spcPct val="108000"/>
              </a:lnSpc>
              <a:buNone/>
            </a:pPr>
            <a:r>
              <a:rPr lang="en-US" sz="1100" dirty="0">
                <a:solidFill>
                  <a:srgbClr val="6B7683"/>
                </a:solidFill>
                <a:latin typeface="Calibri" pitchFamily="34" charset="0"/>
                <a:ea typeface="Calibri" pitchFamily="34" charset="-122"/>
                <a:cs typeface="Calibri" pitchFamily="34" charset="-120"/>
              </a:rPr>
              <a:t>An approved enrollment message is about 140 bytes.</a:t>
            </a:r>
            <a:endParaRPr lang="en-US" sz="1100" dirty="0"/>
          </a:p>
        </p:txBody>
      </p:sp>
      <p:sp>
        <p:nvSpPr>
          <p:cNvPr id="10" name="Shape 8"/>
          <p:cNvSpPr/>
          <p:nvPr/>
        </p:nvSpPr>
        <p:spPr>
          <a:xfrm>
            <a:off x="5138928" y="1883664"/>
            <a:ext cx="155448" cy="155448"/>
          </a:xfrm>
          <a:prstGeom prst="ellipse">
            <a:avLst/>
          </a:prstGeom>
          <a:solidFill>
            <a:srgbClr val="2E9E8F"/>
          </a:solidFill>
          <a:ln/>
        </p:spPr>
      </p:sp>
      <p:sp>
        <p:nvSpPr>
          <p:cNvPr id="11" name="Text 9"/>
          <p:cNvSpPr/>
          <p:nvPr/>
        </p:nvSpPr>
        <p:spPr>
          <a:xfrm>
            <a:off x="5413248" y="1810512"/>
            <a:ext cx="5852160" cy="804672"/>
          </a:xfrm>
          <a:prstGeom prst="rect">
            <a:avLst/>
          </a:prstGeom>
          <a:noFill/>
          <a:ln/>
        </p:spPr>
        <p:txBody>
          <a:bodyPr wrap="square" lIns="0" tIns="0" rIns="0" bIns="0" rtlCol="0" anchor="ctr"/>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Request a 185-byte MTU on connect. If it is refused, refuse to write rather than let the stack truncate silently — never shorten the secret.</a:t>
            </a:r>
            <a:endParaRPr lang="en-US" sz="1250" dirty="0"/>
          </a:p>
        </p:txBody>
      </p:sp>
      <p:sp>
        <p:nvSpPr>
          <p:cNvPr id="12" name="Shape 10"/>
          <p:cNvSpPr/>
          <p:nvPr/>
        </p:nvSpPr>
        <p:spPr>
          <a:xfrm>
            <a:off x="640080" y="2889504"/>
            <a:ext cx="10908792" cy="1097280"/>
          </a:xfrm>
          <a:prstGeom prst="roundRect">
            <a:avLst>
              <a:gd name="adj" fmla="val 5833"/>
            </a:avLst>
          </a:prstGeom>
          <a:solidFill>
            <a:srgbClr val="F1F4F7"/>
          </a:solidFill>
          <a:ln/>
        </p:spPr>
      </p:sp>
      <p:sp>
        <p:nvSpPr>
          <p:cNvPr id="13" name="Shape 11"/>
          <p:cNvSpPr/>
          <p:nvPr/>
        </p:nvSpPr>
        <p:spPr>
          <a:xfrm>
            <a:off x="914400" y="3108960"/>
            <a:ext cx="155448" cy="155448"/>
          </a:xfrm>
          <a:prstGeom prst="ellipse">
            <a:avLst/>
          </a:prstGeom>
          <a:solidFill>
            <a:srgbClr val="C4453C"/>
          </a:solidFill>
          <a:ln/>
        </p:spPr>
      </p:sp>
      <p:sp>
        <p:nvSpPr>
          <p:cNvPr id="14" name="Text 12"/>
          <p:cNvSpPr/>
          <p:nvPr/>
        </p:nvSpPr>
        <p:spPr>
          <a:xfrm>
            <a:off x="1188720" y="3017520"/>
            <a:ext cx="4206240" cy="329184"/>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BlueZ broadcasts notifications</a:t>
            </a:r>
            <a:endParaRPr lang="en-US" sz="1400" dirty="0"/>
          </a:p>
        </p:txBody>
      </p:sp>
      <p:sp>
        <p:nvSpPr>
          <p:cNvPr id="15" name="Text 13"/>
          <p:cNvSpPr/>
          <p:nvPr/>
        </p:nvSpPr>
        <p:spPr>
          <a:xfrm>
            <a:off x="1188720" y="3364992"/>
            <a:ext cx="4206240" cy="530352"/>
          </a:xfrm>
          <a:prstGeom prst="rect">
            <a:avLst/>
          </a:prstGeom>
          <a:noFill/>
          <a:ln/>
        </p:spPr>
        <p:txBody>
          <a:bodyPr wrap="square" lIns="0" tIns="0" rIns="0" bIns="0" rtlCol="0" anchor="t"/>
          <a:lstStyle/>
          <a:p>
            <a:pPr indent="0" marL="0">
              <a:lnSpc>
                <a:spcPct val="108000"/>
              </a:lnSpc>
              <a:buNone/>
            </a:pPr>
            <a:r>
              <a:rPr lang="en-US" sz="1100" dirty="0">
                <a:solidFill>
                  <a:srgbClr val="6B7683"/>
                </a:solidFill>
                <a:latin typeface="Calibri" pitchFamily="34" charset="0"/>
                <a:ea typeface="Calibri" pitchFamily="34" charset="-122"/>
                <a:cs typeface="Calibri" pitchFamily="34" charset="-120"/>
              </a:rPr>
              <a:t>It cannot address a notification to one central; every subscriber receives it.</a:t>
            </a:r>
            <a:endParaRPr lang="en-US" sz="1100" dirty="0"/>
          </a:p>
        </p:txBody>
      </p:sp>
      <p:sp>
        <p:nvSpPr>
          <p:cNvPr id="16" name="Shape 14"/>
          <p:cNvSpPr/>
          <p:nvPr/>
        </p:nvSpPr>
        <p:spPr>
          <a:xfrm>
            <a:off x="5138928" y="3108960"/>
            <a:ext cx="155448" cy="155448"/>
          </a:xfrm>
          <a:prstGeom prst="ellipse">
            <a:avLst/>
          </a:prstGeom>
          <a:solidFill>
            <a:srgbClr val="2E9E8F"/>
          </a:solidFill>
          <a:ln/>
        </p:spPr>
      </p:sp>
      <p:sp>
        <p:nvSpPr>
          <p:cNvPr id="17" name="Text 15"/>
          <p:cNvSpPr/>
          <p:nvPr/>
        </p:nvSpPr>
        <p:spPr>
          <a:xfrm>
            <a:off x="5413248" y="3035808"/>
            <a:ext cx="5852160" cy="804672"/>
          </a:xfrm>
          <a:prstGeom prst="rect">
            <a:avLst/>
          </a:prstGeom>
          <a:noFill/>
          <a:ln/>
        </p:spPr>
        <p:txBody>
          <a:bodyPr wrap="square" lIns="0" tIns="0" rIns="0" bIns="0" rtlCol="0" anchor="ctr"/>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Every notified message carries the deviceId, and each app discards what is not its own.</a:t>
            </a:r>
            <a:endParaRPr lang="en-US" sz="1250" dirty="0"/>
          </a:p>
        </p:txBody>
      </p:sp>
      <p:sp>
        <p:nvSpPr>
          <p:cNvPr id="18" name="Shape 16"/>
          <p:cNvSpPr/>
          <p:nvPr/>
        </p:nvSpPr>
        <p:spPr>
          <a:xfrm>
            <a:off x="640080" y="4114800"/>
            <a:ext cx="10908792" cy="1097280"/>
          </a:xfrm>
          <a:prstGeom prst="roundRect">
            <a:avLst>
              <a:gd name="adj" fmla="val 5833"/>
            </a:avLst>
          </a:prstGeom>
          <a:solidFill>
            <a:srgbClr val="F1F4F7"/>
          </a:solidFill>
          <a:ln/>
        </p:spPr>
      </p:sp>
      <p:sp>
        <p:nvSpPr>
          <p:cNvPr id="19" name="Shape 17"/>
          <p:cNvSpPr/>
          <p:nvPr/>
        </p:nvSpPr>
        <p:spPr>
          <a:xfrm>
            <a:off x="914400" y="4334256"/>
            <a:ext cx="155448" cy="155448"/>
          </a:xfrm>
          <a:prstGeom prst="ellipse">
            <a:avLst/>
          </a:prstGeom>
          <a:solidFill>
            <a:srgbClr val="C4453C"/>
          </a:solidFill>
          <a:ln/>
        </p:spPr>
      </p:sp>
      <p:sp>
        <p:nvSpPr>
          <p:cNvPr id="20" name="Text 18"/>
          <p:cNvSpPr/>
          <p:nvPr/>
        </p:nvSpPr>
        <p:spPr>
          <a:xfrm>
            <a:off x="1188720" y="4242816"/>
            <a:ext cx="4206240" cy="329184"/>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Android drops concurrent GATT operations</a:t>
            </a:r>
            <a:endParaRPr lang="en-US" sz="1400" dirty="0"/>
          </a:p>
        </p:txBody>
      </p:sp>
      <p:sp>
        <p:nvSpPr>
          <p:cNvPr id="21" name="Text 19"/>
          <p:cNvSpPr/>
          <p:nvPr/>
        </p:nvSpPr>
        <p:spPr>
          <a:xfrm>
            <a:off x="1188720" y="4590288"/>
            <a:ext cx="4206240" cy="530352"/>
          </a:xfrm>
          <a:prstGeom prst="rect">
            <a:avLst/>
          </a:prstGeom>
          <a:noFill/>
          <a:ln/>
        </p:spPr>
        <p:txBody>
          <a:bodyPr wrap="square" lIns="0" tIns="0" rIns="0" bIns="0" rtlCol="0" anchor="t"/>
          <a:lstStyle/>
          <a:p>
            <a:pPr indent="0" marL="0">
              <a:lnSpc>
                <a:spcPct val="108000"/>
              </a:lnSpc>
              <a:buNone/>
            </a:pPr>
            <a:r>
              <a:rPr lang="en-US" sz="1100" dirty="0">
                <a:solidFill>
                  <a:srgbClr val="6B7683"/>
                </a:solidFill>
                <a:latin typeface="Calibri" pitchFamily="34" charset="0"/>
                <a:ea typeface="Calibri" pitchFamily="34" charset="-122"/>
                <a:cs typeface="Calibri" pitchFamily="34" charset="-120"/>
              </a:rPr>
              <a:t>Silently — while CoreBluetooth quietly queues them.</a:t>
            </a:r>
            <a:endParaRPr lang="en-US" sz="1100" dirty="0"/>
          </a:p>
        </p:txBody>
      </p:sp>
      <p:sp>
        <p:nvSpPr>
          <p:cNvPr id="22" name="Shape 20"/>
          <p:cNvSpPr/>
          <p:nvPr/>
        </p:nvSpPr>
        <p:spPr>
          <a:xfrm>
            <a:off x="5138928" y="4334256"/>
            <a:ext cx="155448" cy="155448"/>
          </a:xfrm>
          <a:prstGeom prst="ellipse">
            <a:avLst/>
          </a:prstGeom>
          <a:solidFill>
            <a:srgbClr val="2E9E8F"/>
          </a:solidFill>
          <a:ln/>
        </p:spPr>
      </p:sp>
      <p:sp>
        <p:nvSpPr>
          <p:cNvPr id="23" name="Text 21"/>
          <p:cNvSpPr/>
          <p:nvPr/>
        </p:nvSpPr>
        <p:spPr>
          <a:xfrm>
            <a:off x="5413248" y="4261104"/>
            <a:ext cx="5852160" cy="804672"/>
          </a:xfrm>
          <a:prstGeom prst="rect">
            <a:avLst/>
          </a:prstGeom>
          <a:noFill/>
          <a:ln/>
        </p:spPr>
        <p:txBody>
          <a:bodyPr wrap="square" lIns="0" tIns="0" rIns="0" bIns="0" rtlCol="0" anchor="ctr"/>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A mutex serialising every read, write and notify-subscribe on the Android transport.</a:t>
            </a:r>
            <a:endParaRPr lang="en-US" sz="1250" dirty="0"/>
          </a:p>
        </p:txBody>
      </p:sp>
      <p:sp>
        <p:nvSpPr>
          <p:cNvPr id="24" name="Text 22"/>
          <p:cNvSpPr/>
          <p:nvPr/>
        </p:nvSpPr>
        <p:spPr>
          <a:xfrm>
            <a:off x="640080" y="5541264"/>
            <a:ext cx="10908792" cy="384048"/>
          </a:xfrm>
          <a:prstGeom prst="rect">
            <a:avLst/>
          </a:prstGeom>
          <a:noFill/>
          <a:ln/>
        </p:spPr>
        <p:txBody>
          <a:bodyPr wrap="square" lIns="0" tIns="0" rIns="0" bIns="0" rtlCol="0" anchor="ctr"/>
          <a:lstStyle/>
          <a:p>
            <a:pPr indent="0" marL="0">
              <a:buNone/>
            </a:pPr>
            <a:r>
              <a:rPr lang="en-US" sz="1400" b="1" i="1" dirty="0">
                <a:solidFill>
                  <a:srgbClr val="E08A2E"/>
                </a:solidFill>
                <a:latin typeface="Calibri" pitchFamily="34" charset="0"/>
                <a:ea typeface="Calibri" pitchFamily="34" charset="-122"/>
                <a:cs typeface="Calibri" pitchFamily="34" charset="-120"/>
              </a:rPr>
              <a:t>One protocol costs far more in the transport layer than it does in the cryptography.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FINAL REMARKS  ·  1 OF 2</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Known limitations</a:t>
            </a:r>
            <a:endParaRPr lang="en-US" sz="3100" dirty="0"/>
          </a:p>
        </p:txBody>
      </p:sp>
      <p:sp>
        <p:nvSpPr>
          <p:cNvPr id="4" name="Shape 2"/>
          <p:cNvSpPr/>
          <p:nvPr/>
        </p:nvSpPr>
        <p:spPr>
          <a:xfrm>
            <a:off x="640080" y="1371600"/>
            <a:ext cx="5294376" cy="2084832"/>
          </a:xfrm>
          <a:prstGeom prst="roundRect">
            <a:avLst>
              <a:gd name="adj" fmla="val 3070"/>
            </a:avLst>
          </a:prstGeom>
          <a:solidFill>
            <a:srgbClr val="F1F4F7"/>
          </a:solidFill>
          <a:ln/>
        </p:spPr>
      </p:sp>
      <p:sp>
        <p:nvSpPr>
          <p:cNvPr id="5" name="Shape 3"/>
          <p:cNvSpPr/>
          <p:nvPr/>
        </p:nvSpPr>
        <p:spPr>
          <a:xfrm>
            <a:off x="932688" y="1645920"/>
            <a:ext cx="310896" cy="310896"/>
          </a:xfrm>
          <a:prstGeom prst="ellipse">
            <a:avLst/>
          </a:prstGeom>
          <a:solidFill>
            <a:srgbClr val="C4453C"/>
          </a:solidFill>
          <a:ln/>
        </p:spPr>
      </p:sp>
      <p:sp>
        <p:nvSpPr>
          <p:cNvPr id="6" name="Text 4"/>
          <p:cNvSpPr/>
          <p:nvPr/>
        </p:nvSpPr>
        <p:spPr>
          <a:xfrm>
            <a:off x="932688" y="164592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932688" y="2066544"/>
            <a:ext cx="4709160" cy="548640"/>
          </a:xfrm>
          <a:prstGeom prst="rect">
            <a:avLst/>
          </a:prstGeom>
          <a:noFill/>
          <a:ln/>
        </p:spPr>
        <p:txBody>
          <a:bodyPr wrap="square" lIns="0" tIns="0" rIns="0" bIns="0" rtlCol="0" anchor="t"/>
          <a:lstStyle/>
          <a:p>
            <a:pPr indent="0" marL="0">
              <a:lnSpc>
                <a:spcPct val="106000"/>
              </a:lnSpc>
              <a:buNone/>
            </a:pPr>
            <a:r>
              <a:rPr lang="en-US" sz="1500" b="1" dirty="0">
                <a:solidFill>
                  <a:srgbClr val="1B2430"/>
                </a:solidFill>
                <a:latin typeface="Calibri" pitchFamily="34" charset="0"/>
                <a:ea typeface="Calibri" pitchFamily="34" charset="-122"/>
                <a:cs typeface="Calibri" pitchFamily="34" charset="-120"/>
              </a:rPr>
              <a:t>The secret is broadcast at enrollment</a:t>
            </a:r>
            <a:endParaRPr lang="en-US" sz="1500" dirty="0"/>
          </a:p>
        </p:txBody>
      </p:sp>
      <p:sp>
        <p:nvSpPr>
          <p:cNvPr id="8" name="Text 6"/>
          <p:cNvSpPr/>
          <p:nvPr/>
        </p:nvSpPr>
        <p:spPr>
          <a:xfrm>
            <a:off x="932688" y="2560320"/>
            <a:ext cx="4709160" cy="859536"/>
          </a:xfrm>
          <a:prstGeom prst="rect">
            <a:avLst/>
          </a:prstGeom>
          <a:noFill/>
          <a:ln/>
        </p:spPr>
        <p:txBody>
          <a:bodyPr wrap="square" lIns="0" tIns="0" rIns="0" bIns="0" rtlCol="0" anchor="t"/>
          <a:lstStyle/>
          <a:p>
            <a:pPr indent="0" marL="0">
              <a:lnSpc>
                <a:spcPct val="110000"/>
              </a:lnSpc>
              <a:buNone/>
            </a:pPr>
            <a:r>
              <a:rPr lang="en-US" sz="1100" dirty="0">
                <a:solidFill>
                  <a:srgbClr val="6B7683"/>
                </a:solidFill>
                <a:latin typeface="Calibri" pitchFamily="34" charset="0"/>
                <a:ea typeface="Calibri" pitchFamily="34" charset="-122"/>
                <a:cs typeface="Calibri" pitchFamily="34" charset="-120"/>
              </a:rPr>
              <a:t>BlueZ cannot address a notification to a single central, so the approved message reaches every subscribed central. The window is narrow — an attacker must already be connected and subscribed while the owner presses the button — but it is real.</a:t>
            </a:r>
            <a:endParaRPr lang="en-US" sz="1100" dirty="0"/>
          </a:p>
        </p:txBody>
      </p:sp>
      <p:sp>
        <p:nvSpPr>
          <p:cNvPr id="9" name="Shape 7"/>
          <p:cNvSpPr/>
          <p:nvPr/>
        </p:nvSpPr>
        <p:spPr>
          <a:xfrm>
            <a:off x="6254496" y="1371600"/>
            <a:ext cx="5294376" cy="2084832"/>
          </a:xfrm>
          <a:prstGeom prst="roundRect">
            <a:avLst>
              <a:gd name="adj" fmla="val 3070"/>
            </a:avLst>
          </a:prstGeom>
          <a:solidFill>
            <a:srgbClr val="F1F4F7"/>
          </a:solidFill>
          <a:ln/>
        </p:spPr>
      </p:sp>
      <p:sp>
        <p:nvSpPr>
          <p:cNvPr id="10" name="Shape 8"/>
          <p:cNvSpPr/>
          <p:nvPr/>
        </p:nvSpPr>
        <p:spPr>
          <a:xfrm>
            <a:off x="6547104" y="1645920"/>
            <a:ext cx="310896" cy="310896"/>
          </a:xfrm>
          <a:prstGeom prst="ellipse">
            <a:avLst/>
          </a:prstGeom>
          <a:solidFill>
            <a:srgbClr val="C4453C"/>
          </a:solidFill>
          <a:ln/>
        </p:spPr>
      </p:sp>
      <p:sp>
        <p:nvSpPr>
          <p:cNvPr id="11" name="Text 9"/>
          <p:cNvSpPr/>
          <p:nvPr/>
        </p:nvSpPr>
        <p:spPr>
          <a:xfrm>
            <a:off x="6547104" y="164592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p:nvPr/>
        </p:nvSpPr>
        <p:spPr>
          <a:xfrm>
            <a:off x="6547104" y="2066544"/>
            <a:ext cx="4709160" cy="548640"/>
          </a:xfrm>
          <a:prstGeom prst="rect">
            <a:avLst/>
          </a:prstGeom>
          <a:noFill/>
          <a:ln/>
        </p:spPr>
        <p:txBody>
          <a:bodyPr wrap="square" lIns="0" tIns="0" rIns="0" bIns="0" rtlCol="0" anchor="t"/>
          <a:lstStyle/>
          <a:p>
            <a:pPr indent="0" marL="0">
              <a:lnSpc>
                <a:spcPct val="106000"/>
              </a:lnSpc>
              <a:buNone/>
            </a:pPr>
            <a:r>
              <a:rPr lang="en-US" sz="1500" b="1" dirty="0">
                <a:solidFill>
                  <a:srgbClr val="1B2430"/>
                </a:solidFill>
                <a:latin typeface="Calibri" pitchFamily="34" charset="0"/>
                <a:ea typeface="Calibri" pitchFamily="34" charset="-122"/>
                <a:cs typeface="Calibri" pitchFamily="34" charset="-120"/>
              </a:rPr>
              <a:t>The secret is stored in plaintext on the lock</a:t>
            </a:r>
            <a:endParaRPr lang="en-US" sz="1500" dirty="0"/>
          </a:p>
        </p:txBody>
      </p:sp>
      <p:sp>
        <p:nvSpPr>
          <p:cNvPr id="13" name="Text 11"/>
          <p:cNvSpPr/>
          <p:nvPr/>
        </p:nvSpPr>
        <p:spPr>
          <a:xfrm>
            <a:off x="6547104" y="2560320"/>
            <a:ext cx="4709160" cy="859536"/>
          </a:xfrm>
          <a:prstGeom prst="rect">
            <a:avLst/>
          </a:prstGeom>
          <a:noFill/>
          <a:ln/>
        </p:spPr>
        <p:txBody>
          <a:bodyPr wrap="square" lIns="0" tIns="0" rIns="0" bIns="0" rtlCol="0" anchor="t"/>
          <a:lstStyle/>
          <a:p>
            <a:pPr indent="0" marL="0">
              <a:lnSpc>
                <a:spcPct val="110000"/>
              </a:lnSpc>
              <a:buNone/>
            </a:pPr>
            <a:r>
              <a:rPr lang="en-US" sz="1100" dirty="0">
                <a:solidFill>
                  <a:srgbClr val="6B7683"/>
                </a:solidFill>
                <a:latin typeface="Calibri" pitchFamily="34" charset="0"/>
                <a:ea typeface="Calibri" pitchFamily="34" charset="-122"/>
                <a:cs typeface="Calibri" pitchFamily="34" charset="-120"/>
              </a:rPr>
              <a:t>HMAC is symmetric: the lock needs the same bytes to recompute the proof, so storing a hash is not an option. The file is mode 0600 — but root on the Pi owns the credentials.</a:t>
            </a:r>
            <a:endParaRPr lang="en-US" sz="1100" dirty="0"/>
          </a:p>
        </p:txBody>
      </p:sp>
      <p:sp>
        <p:nvSpPr>
          <p:cNvPr id="14" name="Shape 12"/>
          <p:cNvSpPr/>
          <p:nvPr/>
        </p:nvSpPr>
        <p:spPr>
          <a:xfrm>
            <a:off x="640080" y="3657600"/>
            <a:ext cx="5294376" cy="2084832"/>
          </a:xfrm>
          <a:prstGeom prst="roundRect">
            <a:avLst>
              <a:gd name="adj" fmla="val 3070"/>
            </a:avLst>
          </a:prstGeom>
          <a:solidFill>
            <a:srgbClr val="F1F4F7"/>
          </a:solidFill>
          <a:ln/>
        </p:spPr>
      </p:sp>
      <p:sp>
        <p:nvSpPr>
          <p:cNvPr id="15" name="Shape 13"/>
          <p:cNvSpPr/>
          <p:nvPr/>
        </p:nvSpPr>
        <p:spPr>
          <a:xfrm>
            <a:off x="932688" y="3931920"/>
            <a:ext cx="310896" cy="310896"/>
          </a:xfrm>
          <a:prstGeom prst="ellipse">
            <a:avLst/>
          </a:prstGeom>
          <a:solidFill>
            <a:srgbClr val="C4453C"/>
          </a:solidFill>
          <a:ln/>
        </p:spPr>
      </p:sp>
      <p:sp>
        <p:nvSpPr>
          <p:cNvPr id="16" name="Text 14"/>
          <p:cNvSpPr/>
          <p:nvPr/>
        </p:nvSpPr>
        <p:spPr>
          <a:xfrm>
            <a:off x="932688" y="393192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932688" y="4352544"/>
            <a:ext cx="4709160" cy="548640"/>
          </a:xfrm>
          <a:prstGeom prst="rect">
            <a:avLst/>
          </a:prstGeom>
          <a:noFill/>
          <a:ln/>
        </p:spPr>
        <p:txBody>
          <a:bodyPr wrap="square" lIns="0" tIns="0" rIns="0" bIns="0" rtlCol="0" anchor="t"/>
          <a:lstStyle/>
          <a:p>
            <a:pPr indent="0" marL="0">
              <a:lnSpc>
                <a:spcPct val="106000"/>
              </a:lnSpc>
              <a:buNone/>
            </a:pPr>
            <a:r>
              <a:rPr lang="en-US" sz="1500" b="1" dirty="0">
                <a:solidFill>
                  <a:srgbClr val="1B2430"/>
                </a:solidFill>
                <a:latin typeface="Calibri" pitchFamily="34" charset="0"/>
                <a:ea typeface="Calibri" pitchFamily="34" charset="-122"/>
                <a:cs typeface="Calibri" pitchFamily="34" charset="-120"/>
              </a:rPr>
              <a:t>The lock is not authenticated to the phone</a:t>
            </a:r>
            <a:endParaRPr lang="en-US" sz="1500" dirty="0"/>
          </a:p>
        </p:txBody>
      </p:sp>
      <p:sp>
        <p:nvSpPr>
          <p:cNvPr id="18" name="Text 16"/>
          <p:cNvSpPr/>
          <p:nvPr/>
        </p:nvSpPr>
        <p:spPr>
          <a:xfrm>
            <a:off x="932688" y="4846320"/>
            <a:ext cx="4709160" cy="859536"/>
          </a:xfrm>
          <a:prstGeom prst="rect">
            <a:avLst/>
          </a:prstGeom>
          <a:noFill/>
          <a:ln/>
        </p:spPr>
        <p:txBody>
          <a:bodyPr wrap="square" lIns="0" tIns="0" rIns="0" bIns="0" rtlCol="0" anchor="t"/>
          <a:lstStyle/>
          <a:p>
            <a:pPr indent="0" marL="0">
              <a:lnSpc>
                <a:spcPct val="110000"/>
              </a:lnSpc>
              <a:buNone/>
            </a:pPr>
            <a:r>
              <a:rPr lang="en-US" sz="1100" dirty="0">
                <a:solidFill>
                  <a:srgbClr val="6B7683"/>
                </a:solidFill>
                <a:latin typeface="Calibri" pitchFamily="34" charset="0"/>
                <a:ea typeface="Calibri" pitchFamily="34" charset="-122"/>
                <a:cs typeface="Calibri" pitchFamily="34" charset="-120"/>
              </a:rPr>
              <a:t>A rogue peripheral advertising the same UUID can collect access requests. It harvests no secrets, since only the lock ever issues them, but it can deny service and mislead the user.</a:t>
            </a:r>
            <a:endParaRPr lang="en-US" sz="1100" dirty="0"/>
          </a:p>
        </p:txBody>
      </p:sp>
      <p:sp>
        <p:nvSpPr>
          <p:cNvPr id="19" name="Shape 17"/>
          <p:cNvSpPr/>
          <p:nvPr/>
        </p:nvSpPr>
        <p:spPr>
          <a:xfrm>
            <a:off x="6254496" y="3657600"/>
            <a:ext cx="5294376" cy="2084832"/>
          </a:xfrm>
          <a:prstGeom prst="roundRect">
            <a:avLst>
              <a:gd name="adj" fmla="val 3070"/>
            </a:avLst>
          </a:prstGeom>
          <a:solidFill>
            <a:srgbClr val="F1F4F7"/>
          </a:solidFill>
          <a:ln/>
        </p:spPr>
      </p:sp>
      <p:sp>
        <p:nvSpPr>
          <p:cNvPr id="20" name="Shape 18"/>
          <p:cNvSpPr/>
          <p:nvPr/>
        </p:nvSpPr>
        <p:spPr>
          <a:xfrm>
            <a:off x="6547104" y="3931920"/>
            <a:ext cx="310896" cy="310896"/>
          </a:xfrm>
          <a:prstGeom prst="ellipse">
            <a:avLst/>
          </a:prstGeom>
          <a:solidFill>
            <a:srgbClr val="C4453C"/>
          </a:solidFill>
          <a:ln/>
        </p:spPr>
      </p:sp>
      <p:sp>
        <p:nvSpPr>
          <p:cNvPr id="21" name="Text 19"/>
          <p:cNvSpPr/>
          <p:nvPr/>
        </p:nvSpPr>
        <p:spPr>
          <a:xfrm>
            <a:off x="6547104" y="393192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2" name="Text 20"/>
          <p:cNvSpPr/>
          <p:nvPr/>
        </p:nvSpPr>
        <p:spPr>
          <a:xfrm>
            <a:off x="6547104" y="4352544"/>
            <a:ext cx="4709160" cy="548640"/>
          </a:xfrm>
          <a:prstGeom prst="rect">
            <a:avLst/>
          </a:prstGeom>
          <a:noFill/>
          <a:ln/>
        </p:spPr>
        <p:txBody>
          <a:bodyPr wrap="square" lIns="0" tIns="0" rIns="0" bIns="0" rtlCol="0" anchor="t"/>
          <a:lstStyle/>
          <a:p>
            <a:pPr indent="0" marL="0">
              <a:lnSpc>
                <a:spcPct val="106000"/>
              </a:lnSpc>
              <a:buNone/>
            </a:pPr>
            <a:r>
              <a:rPr lang="en-US" sz="1500" b="1" dirty="0">
                <a:solidFill>
                  <a:srgbClr val="1B2430"/>
                </a:solidFill>
                <a:latin typeface="Calibri" pitchFamily="34" charset="0"/>
                <a:ea typeface="Calibri" pitchFamily="34" charset="-122"/>
                <a:cs typeface="Calibri" pitchFamily="34" charset="-120"/>
              </a:rPr>
              <a:t>Lockout is per connection, not per device</a:t>
            </a:r>
            <a:endParaRPr lang="en-US" sz="1500" dirty="0"/>
          </a:p>
        </p:txBody>
      </p:sp>
      <p:sp>
        <p:nvSpPr>
          <p:cNvPr id="23" name="Text 21"/>
          <p:cNvSpPr/>
          <p:nvPr/>
        </p:nvSpPr>
        <p:spPr>
          <a:xfrm>
            <a:off x="6547104" y="4846320"/>
            <a:ext cx="4709160" cy="859536"/>
          </a:xfrm>
          <a:prstGeom prst="rect">
            <a:avLst/>
          </a:prstGeom>
          <a:noFill/>
          <a:ln/>
        </p:spPr>
        <p:txBody>
          <a:bodyPr wrap="square" lIns="0" tIns="0" rIns="0" bIns="0" rtlCol="0" anchor="t"/>
          <a:lstStyle/>
          <a:p>
            <a:pPr indent="0" marL="0">
              <a:lnSpc>
                <a:spcPct val="110000"/>
              </a:lnSpc>
              <a:buNone/>
            </a:pPr>
            <a:r>
              <a:rPr lang="en-US" sz="1100" dirty="0">
                <a:solidFill>
                  <a:srgbClr val="6B7683"/>
                </a:solidFill>
                <a:latin typeface="Calibri" pitchFamily="34" charset="0"/>
                <a:ea typeface="Calibri" pitchFamily="34" charset="-122"/>
                <a:cs typeface="Calibri" pitchFamily="34" charset="-120"/>
              </a:rPr>
              <a:t>The failed-attempt counter is indexed by the central's BLE address. An attacker who randomises that address on every attempt walks around the lockout entirely.</a:t>
            </a:r>
            <a:endParaRPr lang="en-US" sz="1100" dirty="0"/>
          </a:p>
        </p:txBody>
      </p:sp>
      <p:sp>
        <p:nvSpPr>
          <p:cNvPr id="24" name="Text 22"/>
          <p:cNvSpPr/>
          <p:nvPr/>
        </p:nvSpPr>
        <p:spPr>
          <a:xfrm>
            <a:off x="640080" y="5870448"/>
            <a:ext cx="10908792" cy="310896"/>
          </a:xfrm>
          <a:prstGeom prst="rect">
            <a:avLst/>
          </a:prstGeom>
          <a:noFill/>
          <a:ln/>
        </p:spPr>
        <p:txBody>
          <a:bodyPr wrap="square" lIns="0" tIns="0" rIns="0" bIns="0" rtlCol="0" anchor="ctr"/>
          <a:lstStyle/>
          <a:p>
            <a:pPr indent="0" marL="0">
              <a:buNone/>
            </a:pPr>
            <a:r>
              <a:rPr lang="en-US" sz="1200" i="1" dirty="0">
                <a:solidFill>
                  <a:srgbClr val="6B7683"/>
                </a:solidFill>
                <a:latin typeface="Calibri" pitchFamily="34" charset="0"/>
                <a:ea typeface="Calibri" pitchFamily="34" charset="-122"/>
                <a:cs typeface="Calibri" pitchFamily="34" charset="-120"/>
              </a:rPr>
              <a:t>Every one of these has a named fix on the next slide.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41C"/>
        </a:solidFill>
      </p:bgPr>
    </p:bg>
    <p:spTree>
      <p:nvGrpSpPr>
        <p:cNvPr id="1" name=""/>
        <p:cNvGrpSpPr/>
        <p:nvPr/>
      </p:nvGrpSpPr>
      <p:grpSpPr>
        <a:xfrm>
          <a:off x="0" y="0"/>
          <a:ext cx="0" cy="0"/>
          <a:chOff x="0" y="0"/>
          <a:chExt cx="0" cy="0"/>
        </a:xfrm>
      </p:grpSpPr>
      <p:sp>
        <p:nvSpPr>
          <p:cNvPr id="2" name="Text 0"/>
          <p:cNvSpPr/>
          <p:nvPr/>
        </p:nvSpPr>
        <p:spPr>
          <a:xfrm>
            <a:off x="640080" y="310896"/>
            <a:ext cx="10908792" cy="219456"/>
          </a:xfrm>
          <a:prstGeom prst="rect">
            <a:avLst/>
          </a:prstGeom>
          <a:noFill/>
          <a:ln/>
        </p:spPr>
        <p:txBody>
          <a:bodyPr wrap="square" lIns="0" tIns="0" rIns="0" bIns="0" rtlCol="0" anchor="ctr"/>
          <a:lstStyle/>
          <a:p>
            <a:pPr indent="0" marL="0">
              <a:buNone/>
            </a:pPr>
            <a:r>
              <a:rPr lang="en-US" sz="1050" b="1" spc="160" kern="0" dirty="0">
                <a:solidFill>
                  <a:srgbClr val="E08A2E"/>
                </a:solidFill>
                <a:latin typeface="Calibri" pitchFamily="34" charset="0"/>
                <a:ea typeface="Calibri" pitchFamily="34" charset="-122"/>
                <a:cs typeface="Calibri" pitchFamily="34" charset="-120"/>
              </a:rPr>
              <a:t>FINAL REMARKS  ·  2 OF 2</a:t>
            </a:r>
            <a:endParaRPr lang="en-US" sz="1050" dirty="0"/>
          </a:p>
        </p:txBody>
      </p:sp>
      <p:sp>
        <p:nvSpPr>
          <p:cNvPr id="3" name="Text 1"/>
          <p:cNvSpPr/>
          <p:nvPr/>
        </p:nvSpPr>
        <p:spPr>
          <a:xfrm>
            <a:off x="640080" y="548640"/>
            <a:ext cx="10908792" cy="603504"/>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Future work</a:t>
            </a:r>
            <a:endParaRPr lang="en-US" sz="3100" dirty="0"/>
          </a:p>
        </p:txBody>
      </p:sp>
      <p:sp>
        <p:nvSpPr>
          <p:cNvPr id="4" name="Shape 2"/>
          <p:cNvSpPr/>
          <p:nvPr/>
        </p:nvSpPr>
        <p:spPr>
          <a:xfrm>
            <a:off x="640080" y="1335024"/>
            <a:ext cx="10908792" cy="694944"/>
          </a:xfrm>
          <a:prstGeom prst="roundRect">
            <a:avLst>
              <a:gd name="adj" fmla="val 9211"/>
            </a:avLst>
          </a:prstGeom>
          <a:solidFill>
            <a:srgbClr val="232E3C"/>
          </a:solidFill>
          <a:ln/>
        </p:spPr>
      </p:sp>
      <p:sp>
        <p:nvSpPr>
          <p:cNvPr id="5" name="Shape 3"/>
          <p:cNvSpPr/>
          <p:nvPr/>
        </p:nvSpPr>
        <p:spPr>
          <a:xfrm>
            <a:off x="877824" y="1517904"/>
            <a:ext cx="329184" cy="329184"/>
          </a:xfrm>
          <a:prstGeom prst="ellipse">
            <a:avLst/>
          </a:prstGeom>
          <a:solidFill>
            <a:srgbClr val="E08A2E"/>
          </a:solidFill>
          <a:ln/>
        </p:spPr>
      </p:sp>
      <p:sp>
        <p:nvSpPr>
          <p:cNvPr id="6" name="Text 4"/>
          <p:cNvSpPr/>
          <p:nvPr/>
        </p:nvSpPr>
        <p:spPr>
          <a:xfrm>
            <a:off x="877824" y="1517904"/>
            <a:ext cx="329184" cy="329184"/>
          </a:xfrm>
          <a:prstGeom prst="rect">
            <a:avLst/>
          </a:prstGeom>
          <a:noFill/>
          <a:ln/>
        </p:spPr>
        <p:txBody>
          <a:bodyPr wrap="square" lIns="0" tIns="0" rIns="0" bIns="0" rtlCol="0" anchor="ctr"/>
          <a:lstStyle/>
          <a:p>
            <a:pPr algn="ctr" indent="0" marL="0">
              <a:buNone/>
            </a:pPr>
            <a:r>
              <a:rPr lang="en-US" sz="1150" b="1" dirty="0">
                <a:solidFill>
                  <a:srgbClr val="10141C"/>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1353312" y="1389888"/>
            <a:ext cx="3200400" cy="585216"/>
          </a:xfrm>
          <a:prstGeom prst="rect">
            <a:avLst/>
          </a:prstGeom>
          <a:noFill/>
          <a:ln/>
        </p:spPr>
        <p:txBody>
          <a:bodyPr wrap="square" lIns="0" tIns="0" rIns="0" bIns="0" rtlCol="0" anchor="ctr"/>
          <a:lstStyle/>
          <a:p>
            <a:pPr indent="0" marL="0">
              <a:buNone/>
            </a:pPr>
            <a:r>
              <a:rPr lang="en-US" sz="1350" b="1" dirty="0">
                <a:solidFill>
                  <a:srgbClr val="E08A2E"/>
                </a:solidFill>
                <a:latin typeface="Calibri" pitchFamily="34" charset="0"/>
                <a:ea typeface="Calibri" pitchFamily="34" charset="-122"/>
                <a:cs typeface="Calibri" pitchFamily="34" charset="-120"/>
              </a:rPr>
              <a:t>Asymmetric cryptography</a:t>
            </a:r>
            <a:endParaRPr lang="en-US" sz="1350" dirty="0"/>
          </a:p>
        </p:txBody>
      </p:sp>
      <p:sp>
        <p:nvSpPr>
          <p:cNvPr id="8" name="Text 6"/>
          <p:cNvSpPr/>
          <p:nvPr/>
        </p:nvSpPr>
        <p:spPr>
          <a:xfrm>
            <a:off x="4279392" y="1389888"/>
            <a:ext cx="7315200" cy="585216"/>
          </a:xfrm>
          <a:prstGeom prst="rect">
            <a:avLst/>
          </a:prstGeom>
          <a:noFill/>
          <a:ln/>
        </p:spPr>
        <p:txBody>
          <a:bodyPr wrap="square" lIns="0" tIns="0" rIns="0" bIns="0" rtlCol="0" anchor="ctr"/>
          <a:lstStyle/>
          <a:p>
            <a:pPr indent="0" marL="0">
              <a:lnSpc>
                <a:spcPct val="106000"/>
              </a:lnSpc>
              <a:buNone/>
            </a:pPr>
            <a:r>
              <a:rPr lang="en-US" sz="1100" dirty="0">
                <a:solidFill>
                  <a:srgbClr val="97A4B3"/>
                </a:solidFill>
                <a:latin typeface="Calibri" pitchFamily="34" charset="0"/>
                <a:ea typeface="Calibri" pitchFamily="34" charset="-122"/>
                <a:cs typeface="Calibri" pitchFamily="34" charset="-120"/>
              </a:rPr>
              <a:t>The phone generates a keypair and sends only the public key. The lock never transmits, and never stores, a secret — closing limitations 1 and 2 at the root.</a:t>
            </a:r>
            <a:endParaRPr lang="en-US" sz="1100" dirty="0"/>
          </a:p>
        </p:txBody>
      </p:sp>
      <p:sp>
        <p:nvSpPr>
          <p:cNvPr id="9" name="Shape 7"/>
          <p:cNvSpPr/>
          <p:nvPr/>
        </p:nvSpPr>
        <p:spPr>
          <a:xfrm>
            <a:off x="640080" y="2121408"/>
            <a:ext cx="10908792" cy="694944"/>
          </a:xfrm>
          <a:prstGeom prst="roundRect">
            <a:avLst>
              <a:gd name="adj" fmla="val 9211"/>
            </a:avLst>
          </a:prstGeom>
          <a:solidFill>
            <a:srgbClr val="1B2430"/>
          </a:solidFill>
          <a:ln/>
        </p:spPr>
      </p:sp>
      <p:sp>
        <p:nvSpPr>
          <p:cNvPr id="10" name="Shape 8"/>
          <p:cNvSpPr/>
          <p:nvPr/>
        </p:nvSpPr>
        <p:spPr>
          <a:xfrm>
            <a:off x="877824" y="2304288"/>
            <a:ext cx="329184" cy="329184"/>
          </a:xfrm>
          <a:prstGeom prst="ellipse">
            <a:avLst/>
          </a:prstGeom>
          <a:solidFill>
            <a:srgbClr val="34404F"/>
          </a:solidFill>
          <a:ln/>
        </p:spPr>
      </p:sp>
      <p:sp>
        <p:nvSpPr>
          <p:cNvPr id="11" name="Text 9"/>
          <p:cNvSpPr/>
          <p:nvPr/>
        </p:nvSpPr>
        <p:spPr>
          <a:xfrm>
            <a:off x="877824" y="2304288"/>
            <a:ext cx="329184" cy="329184"/>
          </a:xfrm>
          <a:prstGeom prst="rect">
            <a:avLst/>
          </a:prstGeom>
          <a:noFill/>
          <a:ln/>
        </p:spPr>
        <p:txBody>
          <a:bodyPr wrap="square" lIns="0" tIns="0" rIns="0" bIns="0" rtlCol="0" anchor="ctr"/>
          <a:lstStyle/>
          <a:p>
            <a:pPr algn="ctr" indent="0" marL="0">
              <a:buNone/>
            </a:pPr>
            <a:r>
              <a:rPr lang="en-US" sz="1150" b="1" dirty="0">
                <a:solidFill>
                  <a:srgbClr val="97A4B3"/>
                </a:solidFill>
                <a:latin typeface="Calibri" pitchFamily="34" charset="0"/>
                <a:ea typeface="Calibri" pitchFamily="34" charset="-122"/>
                <a:cs typeface="Calibri" pitchFamily="34" charset="-120"/>
              </a:rPr>
              <a:t>2</a:t>
            </a:r>
            <a:endParaRPr lang="en-US" sz="1150" dirty="0"/>
          </a:p>
        </p:txBody>
      </p:sp>
      <p:sp>
        <p:nvSpPr>
          <p:cNvPr id="12" name="Text 10"/>
          <p:cNvSpPr/>
          <p:nvPr/>
        </p:nvSpPr>
        <p:spPr>
          <a:xfrm>
            <a:off x="1353312" y="2176272"/>
            <a:ext cx="3200400" cy="58521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 Secure Connections</a:t>
            </a:r>
            <a:endParaRPr lang="en-US" sz="1350" dirty="0"/>
          </a:p>
        </p:txBody>
      </p:sp>
      <p:sp>
        <p:nvSpPr>
          <p:cNvPr id="13" name="Text 11"/>
          <p:cNvSpPr/>
          <p:nvPr/>
        </p:nvSpPr>
        <p:spPr>
          <a:xfrm>
            <a:off x="4279392" y="2176272"/>
            <a:ext cx="7315200" cy="585216"/>
          </a:xfrm>
          <a:prstGeom prst="rect">
            <a:avLst/>
          </a:prstGeom>
          <a:noFill/>
          <a:ln/>
        </p:spPr>
        <p:txBody>
          <a:bodyPr wrap="square" lIns="0" tIns="0" rIns="0" bIns="0" rtlCol="0" anchor="ctr"/>
          <a:lstStyle/>
          <a:p>
            <a:pPr indent="0" marL="0">
              <a:lnSpc>
                <a:spcPct val="106000"/>
              </a:lnSpc>
              <a:buNone/>
            </a:pPr>
            <a:r>
              <a:rPr lang="en-US" sz="1100" dirty="0">
                <a:solidFill>
                  <a:srgbClr val="97A4B3"/>
                </a:solidFill>
                <a:latin typeface="Calibri" pitchFamily="34" charset="0"/>
                <a:ea typeface="Calibri" pitchFamily="34" charset="-122"/>
                <a:cs typeface="Calibri" pitchFamily="34" charset="-120"/>
              </a:rPr>
              <a:t>Marking the characteristics encrypt-read / encrypt-write / encrypt-notify makes the link opaque to bystanders. Already implemented behind a flag; off by default because LE pairing slows bench iteration.</a:t>
            </a:r>
            <a:endParaRPr lang="en-US" sz="1100" dirty="0"/>
          </a:p>
        </p:txBody>
      </p:sp>
      <p:sp>
        <p:nvSpPr>
          <p:cNvPr id="14" name="Shape 12"/>
          <p:cNvSpPr/>
          <p:nvPr/>
        </p:nvSpPr>
        <p:spPr>
          <a:xfrm>
            <a:off x="640080" y="2907792"/>
            <a:ext cx="10908792" cy="694944"/>
          </a:xfrm>
          <a:prstGeom prst="roundRect">
            <a:avLst>
              <a:gd name="adj" fmla="val 9211"/>
            </a:avLst>
          </a:prstGeom>
          <a:solidFill>
            <a:srgbClr val="1B2430"/>
          </a:solidFill>
          <a:ln/>
        </p:spPr>
      </p:sp>
      <p:sp>
        <p:nvSpPr>
          <p:cNvPr id="15" name="Shape 13"/>
          <p:cNvSpPr/>
          <p:nvPr/>
        </p:nvSpPr>
        <p:spPr>
          <a:xfrm>
            <a:off x="877824" y="3090672"/>
            <a:ext cx="329184" cy="329184"/>
          </a:xfrm>
          <a:prstGeom prst="ellipse">
            <a:avLst/>
          </a:prstGeom>
          <a:solidFill>
            <a:srgbClr val="34404F"/>
          </a:solidFill>
          <a:ln/>
        </p:spPr>
      </p:sp>
      <p:sp>
        <p:nvSpPr>
          <p:cNvPr id="16" name="Text 14"/>
          <p:cNvSpPr/>
          <p:nvPr/>
        </p:nvSpPr>
        <p:spPr>
          <a:xfrm>
            <a:off x="877824" y="3090672"/>
            <a:ext cx="329184" cy="329184"/>
          </a:xfrm>
          <a:prstGeom prst="rect">
            <a:avLst/>
          </a:prstGeom>
          <a:noFill/>
          <a:ln/>
        </p:spPr>
        <p:txBody>
          <a:bodyPr wrap="square" lIns="0" tIns="0" rIns="0" bIns="0" rtlCol="0" anchor="ctr"/>
          <a:lstStyle/>
          <a:p>
            <a:pPr algn="ctr" indent="0" marL="0">
              <a:buNone/>
            </a:pPr>
            <a:r>
              <a:rPr lang="en-US" sz="1150" b="1" dirty="0">
                <a:solidFill>
                  <a:srgbClr val="97A4B3"/>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353312" y="2962656"/>
            <a:ext cx="3200400" cy="58521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Signed device information</a:t>
            </a:r>
            <a:endParaRPr lang="en-US" sz="1350" dirty="0"/>
          </a:p>
        </p:txBody>
      </p:sp>
      <p:sp>
        <p:nvSpPr>
          <p:cNvPr id="18" name="Text 16"/>
          <p:cNvSpPr/>
          <p:nvPr/>
        </p:nvSpPr>
        <p:spPr>
          <a:xfrm>
            <a:off x="4279392" y="2962656"/>
            <a:ext cx="7315200" cy="585216"/>
          </a:xfrm>
          <a:prstGeom prst="rect">
            <a:avLst/>
          </a:prstGeom>
          <a:noFill/>
          <a:ln/>
        </p:spPr>
        <p:txBody>
          <a:bodyPr wrap="square" lIns="0" tIns="0" rIns="0" bIns="0" rtlCol="0" anchor="ctr"/>
          <a:lstStyle/>
          <a:p>
            <a:pPr indent="0" marL="0">
              <a:lnSpc>
                <a:spcPct val="106000"/>
              </a:lnSpc>
              <a:buNone/>
            </a:pPr>
            <a:r>
              <a:rPr lang="en-US" sz="1100" dirty="0">
                <a:solidFill>
                  <a:srgbClr val="97A4B3"/>
                </a:solidFill>
                <a:latin typeface="Calibri" pitchFamily="34" charset="0"/>
                <a:ea typeface="Calibri" pitchFamily="34" charset="-122"/>
                <a:cs typeface="Calibri" pitchFamily="34" charset="-120"/>
              </a:rPr>
              <a:t>So the phone can verify it is talking to our lock, not to a peripheral advertising the same UUID.</a:t>
            </a:r>
            <a:endParaRPr lang="en-US" sz="1100" dirty="0"/>
          </a:p>
        </p:txBody>
      </p:sp>
      <p:sp>
        <p:nvSpPr>
          <p:cNvPr id="19" name="Shape 17"/>
          <p:cNvSpPr/>
          <p:nvPr/>
        </p:nvSpPr>
        <p:spPr>
          <a:xfrm>
            <a:off x="640080" y="3694176"/>
            <a:ext cx="10908792" cy="694944"/>
          </a:xfrm>
          <a:prstGeom prst="roundRect">
            <a:avLst>
              <a:gd name="adj" fmla="val 9211"/>
            </a:avLst>
          </a:prstGeom>
          <a:solidFill>
            <a:srgbClr val="1B2430"/>
          </a:solidFill>
          <a:ln/>
        </p:spPr>
      </p:sp>
      <p:sp>
        <p:nvSpPr>
          <p:cNvPr id="20" name="Shape 18"/>
          <p:cNvSpPr/>
          <p:nvPr/>
        </p:nvSpPr>
        <p:spPr>
          <a:xfrm>
            <a:off x="877824" y="3877056"/>
            <a:ext cx="329184" cy="329184"/>
          </a:xfrm>
          <a:prstGeom prst="ellipse">
            <a:avLst/>
          </a:prstGeom>
          <a:solidFill>
            <a:srgbClr val="34404F"/>
          </a:solidFill>
          <a:ln/>
        </p:spPr>
      </p:sp>
      <p:sp>
        <p:nvSpPr>
          <p:cNvPr id="21" name="Text 19"/>
          <p:cNvSpPr/>
          <p:nvPr/>
        </p:nvSpPr>
        <p:spPr>
          <a:xfrm>
            <a:off x="877824" y="3877056"/>
            <a:ext cx="329184" cy="329184"/>
          </a:xfrm>
          <a:prstGeom prst="rect">
            <a:avLst/>
          </a:prstGeom>
          <a:noFill/>
          <a:ln/>
        </p:spPr>
        <p:txBody>
          <a:bodyPr wrap="square" lIns="0" tIns="0" rIns="0" bIns="0" rtlCol="0" anchor="ctr"/>
          <a:lstStyle/>
          <a:p>
            <a:pPr algn="ctr" indent="0" marL="0">
              <a:buNone/>
            </a:pPr>
            <a:r>
              <a:rPr lang="en-US" sz="1150" b="1" dirty="0">
                <a:solidFill>
                  <a:srgbClr val="97A4B3"/>
                </a:solidFill>
                <a:latin typeface="Calibri" pitchFamily="34" charset="0"/>
                <a:ea typeface="Calibri" pitchFamily="34" charset="-122"/>
                <a:cs typeface="Calibri" pitchFamily="34" charset="-120"/>
              </a:rPr>
              <a:t>4</a:t>
            </a:r>
            <a:endParaRPr lang="en-US" sz="1150" dirty="0"/>
          </a:p>
        </p:txBody>
      </p:sp>
      <p:sp>
        <p:nvSpPr>
          <p:cNvPr id="22" name="Text 20"/>
          <p:cNvSpPr/>
          <p:nvPr/>
        </p:nvSpPr>
        <p:spPr>
          <a:xfrm>
            <a:off x="1353312" y="3749040"/>
            <a:ext cx="3200400" cy="58521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Global rate limiting</a:t>
            </a:r>
            <a:endParaRPr lang="en-US" sz="1350" dirty="0"/>
          </a:p>
        </p:txBody>
      </p:sp>
      <p:sp>
        <p:nvSpPr>
          <p:cNvPr id="23" name="Text 21"/>
          <p:cNvSpPr/>
          <p:nvPr/>
        </p:nvSpPr>
        <p:spPr>
          <a:xfrm>
            <a:off x="4279392" y="3749040"/>
            <a:ext cx="7315200" cy="585216"/>
          </a:xfrm>
          <a:prstGeom prst="rect">
            <a:avLst/>
          </a:prstGeom>
          <a:noFill/>
          <a:ln/>
        </p:spPr>
        <p:txBody>
          <a:bodyPr wrap="square" lIns="0" tIns="0" rIns="0" bIns="0" rtlCol="0" anchor="ctr"/>
          <a:lstStyle/>
          <a:p>
            <a:pPr indent="0" marL="0">
              <a:lnSpc>
                <a:spcPct val="106000"/>
              </a:lnSpc>
              <a:buNone/>
            </a:pPr>
            <a:r>
              <a:rPr lang="en-US" sz="1100" dirty="0">
                <a:solidFill>
                  <a:srgbClr val="97A4B3"/>
                </a:solidFill>
                <a:latin typeface="Calibri" pitchFamily="34" charset="0"/>
                <a:ea typeface="Calibri" pitchFamily="34" charset="-122"/>
                <a:cs typeface="Calibri" pitchFamily="34" charset="-120"/>
              </a:rPr>
              <a:t>A per-lock ceiling on attempts instead of a per-connection one, which address randomisation defeats.</a:t>
            </a:r>
            <a:endParaRPr lang="en-US" sz="1100" dirty="0"/>
          </a:p>
        </p:txBody>
      </p:sp>
      <p:sp>
        <p:nvSpPr>
          <p:cNvPr id="24" name="Shape 22"/>
          <p:cNvSpPr/>
          <p:nvPr/>
        </p:nvSpPr>
        <p:spPr>
          <a:xfrm>
            <a:off x="640080" y="4480560"/>
            <a:ext cx="10908792" cy="694944"/>
          </a:xfrm>
          <a:prstGeom prst="roundRect">
            <a:avLst>
              <a:gd name="adj" fmla="val 9211"/>
            </a:avLst>
          </a:prstGeom>
          <a:solidFill>
            <a:srgbClr val="1B2430"/>
          </a:solidFill>
          <a:ln/>
        </p:spPr>
      </p:sp>
      <p:sp>
        <p:nvSpPr>
          <p:cNvPr id="25" name="Shape 23"/>
          <p:cNvSpPr/>
          <p:nvPr/>
        </p:nvSpPr>
        <p:spPr>
          <a:xfrm>
            <a:off x="877824" y="4663440"/>
            <a:ext cx="329184" cy="329184"/>
          </a:xfrm>
          <a:prstGeom prst="ellipse">
            <a:avLst/>
          </a:prstGeom>
          <a:solidFill>
            <a:srgbClr val="34404F"/>
          </a:solidFill>
          <a:ln/>
        </p:spPr>
      </p:sp>
      <p:sp>
        <p:nvSpPr>
          <p:cNvPr id="26" name="Text 24"/>
          <p:cNvSpPr/>
          <p:nvPr/>
        </p:nvSpPr>
        <p:spPr>
          <a:xfrm>
            <a:off x="877824" y="4663440"/>
            <a:ext cx="329184" cy="329184"/>
          </a:xfrm>
          <a:prstGeom prst="rect">
            <a:avLst/>
          </a:prstGeom>
          <a:noFill/>
          <a:ln/>
        </p:spPr>
        <p:txBody>
          <a:bodyPr wrap="square" lIns="0" tIns="0" rIns="0" bIns="0" rtlCol="0" anchor="ctr"/>
          <a:lstStyle/>
          <a:p>
            <a:pPr algn="ctr" indent="0" marL="0">
              <a:buNone/>
            </a:pPr>
            <a:r>
              <a:rPr lang="en-US" sz="1150" b="1" dirty="0">
                <a:solidFill>
                  <a:srgbClr val="97A4B3"/>
                </a:solidFill>
                <a:latin typeface="Calibri" pitchFamily="34" charset="0"/>
                <a:ea typeface="Calibri" pitchFamily="34" charset="-122"/>
                <a:cs typeface="Calibri" pitchFamily="34" charset="-120"/>
              </a:rPr>
              <a:t>5</a:t>
            </a:r>
            <a:endParaRPr lang="en-US" sz="1150" dirty="0"/>
          </a:p>
        </p:txBody>
      </p:sp>
      <p:sp>
        <p:nvSpPr>
          <p:cNvPr id="27" name="Text 25"/>
          <p:cNvSpPr/>
          <p:nvPr/>
        </p:nvSpPr>
        <p:spPr>
          <a:xfrm>
            <a:off x="1353312" y="4535424"/>
            <a:ext cx="3200400" cy="58521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Background operation</a:t>
            </a:r>
            <a:endParaRPr lang="en-US" sz="1350" dirty="0"/>
          </a:p>
        </p:txBody>
      </p:sp>
      <p:sp>
        <p:nvSpPr>
          <p:cNvPr id="28" name="Text 26"/>
          <p:cNvSpPr/>
          <p:nvPr/>
        </p:nvSpPr>
        <p:spPr>
          <a:xfrm>
            <a:off x="4279392" y="4535424"/>
            <a:ext cx="7315200" cy="585216"/>
          </a:xfrm>
          <a:prstGeom prst="rect">
            <a:avLst/>
          </a:prstGeom>
          <a:noFill/>
          <a:ln/>
        </p:spPr>
        <p:txBody>
          <a:bodyPr wrap="square" lIns="0" tIns="0" rIns="0" bIns="0" rtlCol="0" anchor="ctr"/>
          <a:lstStyle/>
          <a:p>
            <a:pPr indent="0" marL="0">
              <a:lnSpc>
                <a:spcPct val="106000"/>
              </a:lnSpc>
              <a:buNone/>
            </a:pPr>
            <a:r>
              <a:rPr lang="en-US" sz="1100" dirty="0">
                <a:solidFill>
                  <a:srgbClr val="97A4B3"/>
                </a:solidFill>
                <a:latin typeface="Calibri" pitchFamily="34" charset="0"/>
                <a:ea typeface="Calibri" pitchFamily="34" charset="-122"/>
                <a:cs typeface="Calibri" pitchFamily="34" charset="-120"/>
              </a:rPr>
              <a:t>CoreBluetooth state restoration, so unlocking no longer requires the app in the foreground.</a:t>
            </a:r>
            <a:endParaRPr lang="en-US" sz="1100" dirty="0"/>
          </a:p>
        </p:txBody>
      </p:sp>
      <p:sp>
        <p:nvSpPr>
          <p:cNvPr id="29" name="Shape 27"/>
          <p:cNvSpPr/>
          <p:nvPr/>
        </p:nvSpPr>
        <p:spPr>
          <a:xfrm>
            <a:off x="640080" y="5486400"/>
            <a:ext cx="10908792" cy="969264"/>
          </a:xfrm>
          <a:prstGeom prst="roundRect">
            <a:avLst>
              <a:gd name="adj" fmla="val 6604"/>
            </a:avLst>
          </a:prstGeom>
          <a:solidFill>
            <a:srgbClr val="232E3C"/>
          </a:solidFill>
          <a:ln/>
        </p:spPr>
      </p:sp>
      <p:sp>
        <p:nvSpPr>
          <p:cNvPr id="30" name="Text 28"/>
          <p:cNvSpPr/>
          <p:nvPr/>
        </p:nvSpPr>
        <p:spPr>
          <a:xfrm>
            <a:off x="950976" y="5614416"/>
            <a:ext cx="10287000" cy="713232"/>
          </a:xfrm>
          <a:prstGeom prst="rect">
            <a:avLst/>
          </a:prstGeom>
          <a:noFill/>
          <a:ln/>
        </p:spPr>
        <p:txBody>
          <a:bodyPr wrap="square" lIns="0" tIns="0" rIns="0" bIns="0" rtlCol="0" anchor="ctr"/>
          <a:lstStyle/>
          <a:p>
            <a:pPr indent="0" marL="0">
              <a:lnSpc>
                <a:spcPct val="110000"/>
              </a:lnSpc>
              <a:buNone/>
            </a:pPr>
            <a:r>
              <a:rPr lang="en-US" sz="1300" i="1" dirty="0">
                <a:solidFill>
                  <a:srgbClr val="FFFFFF"/>
                </a:solidFill>
                <a:latin typeface="Calibri" pitchFamily="34" charset="0"/>
                <a:ea typeface="Calibri" pitchFamily="34" charset="-122"/>
                <a:cs typeface="Calibri" pitchFamily="34" charset="-120"/>
              </a:rPr>
              <a:t>The cryptography was the textbook part. The engineering was making three very different Bluetooth stacks agree on it — and finding that the reference implementation of one of those stacks was itself the thing standing in the way.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Lock over Bluetooth Low Energy</dc:title>
  <dc:subject>PptxGenJS Presentation</dc:subject>
  <dc:creator>Grupo D — PCS3732</dc:creator>
  <cp:lastModifiedBy>Grupo D — PCS3732</cp:lastModifiedBy>
  <cp:revision>1</cp:revision>
  <dcterms:created xsi:type="dcterms:W3CDTF">2026-08-11T16:37:12Z</dcterms:created>
  <dcterms:modified xsi:type="dcterms:W3CDTF">2026-08-11T16:37:12Z</dcterms:modified>
</cp:coreProperties>
</file>